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8f32eb678d141cd" Type="http://schemas.openxmlformats.org/officeDocument/2006/relationships/extended-properties" Target="docProps/app.xml"/><Relationship Id="R3d0cc0fbb15f45b8" Type="http://schemas.openxmlformats.org/officeDocument/2006/relationships/officeDocument" Target="ppt/presentation.xml"/><Relationship Id="R4e954ac9f63e4778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61b69c8bf64106"/>
  </p:sldMasterIdLst>
  <p:notesMasterIdLst>
    <p:notesMasterId xmlns:r="http://schemas.openxmlformats.org/officeDocument/2006/relationships" r:id="Rf1a2bfe09c414226"/>
  </p:notesMasterIdLst>
  <p:sldIdLst>
    <p:sldId xmlns:r="http://schemas.openxmlformats.org/officeDocument/2006/relationships" id="256" r:id="Rfcf8455137b84766"/>
    <p:sldId xmlns:r="http://schemas.openxmlformats.org/officeDocument/2006/relationships" id="257" r:id="R8664b79940194e22"/>
    <p:sldId xmlns:r="http://schemas.openxmlformats.org/officeDocument/2006/relationships" id="258" r:id="R9ca382fafbf7496f"/>
    <p:sldId xmlns:r="http://schemas.openxmlformats.org/officeDocument/2006/relationships" id="259" r:id="R037ab8bac56e49f2"/>
    <p:sldId xmlns:r="http://schemas.openxmlformats.org/officeDocument/2006/relationships" id="260" r:id="R25a4366ac6b94729"/>
    <p:sldId xmlns:r="http://schemas.openxmlformats.org/officeDocument/2006/relationships" id="261" r:id="R42232dc1588547a5"/>
    <p:sldId xmlns:r="http://schemas.openxmlformats.org/officeDocument/2006/relationships" id="262" r:id="R8c5cfbd5e0a144b7"/>
    <p:sldId xmlns:r="http://schemas.openxmlformats.org/officeDocument/2006/relationships" id="263" r:id="R99d47b5d213448b7"/>
    <p:sldId xmlns:r="http://schemas.openxmlformats.org/officeDocument/2006/relationships" id="264" r:id="Rc29cdf82e2fd45fa"/>
    <p:sldId xmlns:r="http://schemas.openxmlformats.org/officeDocument/2006/relationships" id="265" r:id="R70b71644c1a14eb9"/>
    <p:sldId xmlns:r="http://schemas.openxmlformats.org/officeDocument/2006/relationships" id="266" r:id="Rf048b210a83f42c0"/>
    <p:sldId xmlns:r="http://schemas.openxmlformats.org/officeDocument/2006/relationships" id="267" r:id="Racc4a2ff107c491a"/>
    <p:sldId xmlns:r="http://schemas.openxmlformats.org/officeDocument/2006/relationships" id="268" r:id="R95cd68e3fba446c6"/>
    <p:sldId xmlns:r="http://schemas.openxmlformats.org/officeDocument/2006/relationships" id="269" r:id="R3b756728ed6e4729"/>
    <p:sldId xmlns:r="http://schemas.openxmlformats.org/officeDocument/2006/relationships" id="270" r:id="R46d45a02a6424a00"/>
    <p:sldId xmlns:r="http://schemas.openxmlformats.org/officeDocument/2006/relationships" id="271" r:id="R315197544e204bc3"/>
    <p:sldId xmlns:r="http://schemas.openxmlformats.org/officeDocument/2006/relationships" id="272" r:id="R61f81623eedc485a"/>
    <p:sldId xmlns:r="http://schemas.openxmlformats.org/officeDocument/2006/relationships" id="273" r:id="Rbce6b873086f4be5"/>
    <p:sldId xmlns:r="http://schemas.openxmlformats.org/officeDocument/2006/relationships" id="274" r:id="Re1fbb67459b14e27"/>
    <p:sldId xmlns:r="http://schemas.openxmlformats.org/officeDocument/2006/relationships" id="275" r:id="Ra789b55be8604dcd"/>
    <p:sldId xmlns:r="http://schemas.openxmlformats.org/officeDocument/2006/relationships" id="276" r:id="R5ba6a26f96d445f9"/>
    <p:sldId xmlns:r="http://schemas.openxmlformats.org/officeDocument/2006/relationships" id="277" r:id="R9f1b3c8fa0c9410f"/>
    <p:sldId xmlns:r="http://schemas.openxmlformats.org/officeDocument/2006/relationships" id="278" r:id="Re3a94eac8bf342be"/>
    <p:sldId xmlns:r="http://schemas.openxmlformats.org/officeDocument/2006/relationships" id="279" r:id="R37755c3850ad48aa"/>
    <p:sldId xmlns:r="http://schemas.openxmlformats.org/officeDocument/2006/relationships" id="280" r:id="R0537572f1d2241ea"/>
    <p:sldId xmlns:r="http://schemas.openxmlformats.org/officeDocument/2006/relationships" id="281" r:id="Rcaddad43f9204de2"/>
    <p:sldId xmlns:r="http://schemas.openxmlformats.org/officeDocument/2006/relationships" id="282" r:id="R3614878fc87e4d51"/>
    <p:sldId xmlns:r="http://schemas.openxmlformats.org/officeDocument/2006/relationships" id="283" r:id="R19f448c22159423f"/>
    <p:sldId xmlns:r="http://schemas.openxmlformats.org/officeDocument/2006/relationships" id="284" r:id="R11e7ee25f0ce4af4"/>
    <p:sldId xmlns:r="http://schemas.openxmlformats.org/officeDocument/2006/relationships" id="285" r:id="R43bd7d885ad74e76"/>
    <p:sldId xmlns:r="http://schemas.openxmlformats.org/officeDocument/2006/relationships" id="286" r:id="Re5ca5a7969bb4b6a"/>
    <p:sldId xmlns:r="http://schemas.openxmlformats.org/officeDocument/2006/relationships" id="287" r:id="R4dc3f278029c49a3"/>
    <p:sldId xmlns:r="http://schemas.openxmlformats.org/officeDocument/2006/relationships" id="288" r:id="R6fbfbebad3cd4995"/>
    <p:sldId xmlns:r="http://schemas.openxmlformats.org/officeDocument/2006/relationships" id="289" r:id="R497d07e6c1664141"/>
    <p:sldId xmlns:r="http://schemas.openxmlformats.org/officeDocument/2006/relationships" id="290" r:id="R08df70ff3bfa4365"/>
    <p:sldId xmlns:r="http://schemas.openxmlformats.org/officeDocument/2006/relationships" id="291" r:id="R6afa57d8794f4e72"/>
    <p:sldId xmlns:r="http://schemas.openxmlformats.org/officeDocument/2006/relationships" id="292" r:id="Rb21285623d334478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7ab8bac56e49f2" Type="http://schemas.openxmlformats.org/officeDocument/2006/relationships/slide" Target="slides/slide4.xml"/><Relationship Id="R0537572f1d2241ea" Type="http://schemas.openxmlformats.org/officeDocument/2006/relationships/slide" Target="slides/slide25.xml"/><Relationship Id="R056da1958ec94f9d" Type="http://schemas.openxmlformats.org/officeDocument/2006/relationships/theme" Target="theme/theme1.xml"/><Relationship Id="R08df70ff3bfa4365" Type="http://schemas.openxmlformats.org/officeDocument/2006/relationships/slide" Target="slides/slide35.xml"/><Relationship Id="R11e7ee25f0ce4af4" Type="http://schemas.openxmlformats.org/officeDocument/2006/relationships/slide" Target="slides/slide29.xml"/><Relationship Id="R19f448c22159423f" Type="http://schemas.openxmlformats.org/officeDocument/2006/relationships/slide" Target="slides/slide28.xml"/><Relationship Id="R25a4366ac6b94729" Type="http://schemas.openxmlformats.org/officeDocument/2006/relationships/slide" Target="slides/slide5.xml"/><Relationship Id="R315197544e204bc3" Type="http://schemas.openxmlformats.org/officeDocument/2006/relationships/slide" Target="slides/slide16.xml"/><Relationship Id="R3614878fc87e4d51" Type="http://schemas.openxmlformats.org/officeDocument/2006/relationships/slide" Target="slides/slide27.xml"/><Relationship Id="R37755c3850ad48aa" Type="http://schemas.openxmlformats.org/officeDocument/2006/relationships/slide" Target="slides/slide24.xml"/><Relationship Id="R3b756728ed6e4729" Type="http://schemas.openxmlformats.org/officeDocument/2006/relationships/slide" Target="slides/slide14.xml"/><Relationship Id="R42232dc1588547a5" Type="http://schemas.openxmlformats.org/officeDocument/2006/relationships/slide" Target="slides/slide6.xml"/><Relationship Id="R43bd7d885ad74e76" Type="http://schemas.openxmlformats.org/officeDocument/2006/relationships/slide" Target="slides/slide30.xml"/><Relationship Id="R46d45a02a6424a00" Type="http://schemas.openxmlformats.org/officeDocument/2006/relationships/slide" Target="slides/slide15.xml"/><Relationship Id="R497d07e6c1664141" Type="http://schemas.openxmlformats.org/officeDocument/2006/relationships/slide" Target="slides/slide34.xml"/><Relationship Id="R4dc3f278029c49a3" Type="http://schemas.openxmlformats.org/officeDocument/2006/relationships/slide" Target="slides/slide32.xml"/><Relationship Id="R5ba6a26f96d445f9" Type="http://schemas.openxmlformats.org/officeDocument/2006/relationships/slide" Target="slides/slide21.xml"/><Relationship Id="R61f81623eedc485a" Type="http://schemas.openxmlformats.org/officeDocument/2006/relationships/slide" Target="slides/slide17.xml"/><Relationship Id="R6afa57d8794f4e72" Type="http://schemas.openxmlformats.org/officeDocument/2006/relationships/slide" Target="slides/slide36.xml"/><Relationship Id="R6fbfbebad3cd4995" Type="http://schemas.openxmlformats.org/officeDocument/2006/relationships/slide" Target="slides/slide33.xml"/><Relationship Id="R70b71644c1a14eb9" Type="http://schemas.openxmlformats.org/officeDocument/2006/relationships/slide" Target="slides/slide10.xml"/><Relationship Id="R8664b79940194e22" Type="http://schemas.openxmlformats.org/officeDocument/2006/relationships/slide" Target="slides/slide2.xml"/><Relationship Id="R8c5cfbd5e0a144b7" Type="http://schemas.openxmlformats.org/officeDocument/2006/relationships/slide" Target="slides/slide7.xml"/><Relationship Id="R95cd68e3fba446c6" Type="http://schemas.openxmlformats.org/officeDocument/2006/relationships/slide" Target="slides/slide13.xml"/><Relationship Id="R99d47b5d213448b7" Type="http://schemas.openxmlformats.org/officeDocument/2006/relationships/slide" Target="slides/slide8.xml"/><Relationship Id="R9ca382fafbf7496f" Type="http://schemas.openxmlformats.org/officeDocument/2006/relationships/slide" Target="slides/slide3.xml"/><Relationship Id="R9f1b3c8fa0c9410f" Type="http://schemas.openxmlformats.org/officeDocument/2006/relationships/slide" Target="slides/slide22.xml"/><Relationship Id="Ra761b69c8bf64106" Type="http://schemas.openxmlformats.org/officeDocument/2006/relationships/slideMaster" Target="slideMasters/slideMaster1.xml"/><Relationship Id="Ra789b55be8604dcd" Type="http://schemas.openxmlformats.org/officeDocument/2006/relationships/slide" Target="slides/slide20.xml"/><Relationship Id="Raada09e883ef44cb" Type="http://schemas.openxmlformats.org/officeDocument/2006/relationships/tableStyles" Target="tableStyles.xml"/><Relationship Id="Racc4a2ff107c491a" Type="http://schemas.openxmlformats.org/officeDocument/2006/relationships/slide" Target="slides/slide12.xml"/><Relationship Id="Rb21285623d334478" Type="http://schemas.openxmlformats.org/officeDocument/2006/relationships/slide" Target="slides/slide37.xml"/><Relationship Id="Rbce6b873086f4be5" Type="http://schemas.openxmlformats.org/officeDocument/2006/relationships/slide" Target="slides/slide18.xml"/><Relationship Id="Rbd314331ea074d6c" Type="http://schemas.openxmlformats.org/officeDocument/2006/relationships/presProps" Target="presProps.xml"/><Relationship Id="Rc29cdf82e2fd45fa" Type="http://schemas.openxmlformats.org/officeDocument/2006/relationships/slide" Target="slides/slide9.xml"/><Relationship Id="Rcaddad43f9204de2" Type="http://schemas.openxmlformats.org/officeDocument/2006/relationships/slide" Target="slides/slide26.xml"/><Relationship Id="Re1fbb67459b14e27" Type="http://schemas.openxmlformats.org/officeDocument/2006/relationships/slide" Target="slides/slide19.xml"/><Relationship Id="Re3a94eac8bf342be" Type="http://schemas.openxmlformats.org/officeDocument/2006/relationships/slide" Target="slides/slide23.xml"/><Relationship Id="Re5ca5a7969bb4b6a" Type="http://schemas.openxmlformats.org/officeDocument/2006/relationships/slide" Target="slides/slide31.xml"/><Relationship Id="Rf048b210a83f42c0" Type="http://schemas.openxmlformats.org/officeDocument/2006/relationships/slide" Target="slides/slide11.xml"/><Relationship Id="Rf1a2bfe09c414226" Type="http://schemas.openxmlformats.org/officeDocument/2006/relationships/notesMaster" Target="notesMasters/notesMaster1.xml"/><Relationship Id="Rfcf8455137b84766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dc1675539f1048a3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66d414be8e84dc3" Type="http://schemas.openxmlformats.org/officeDocument/2006/relationships/notesMaster" Target="../notesMasters/notesMaster1.xml"/><Relationship Id="R64d8d49395624f06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299cdf8c5dab4bc2" Type="http://schemas.openxmlformats.org/officeDocument/2006/relationships/slide" Target="../slides/slide2.xml"/><Relationship Id="R49f54d8c10824873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91ce97cbb8d14fda" Type="http://schemas.openxmlformats.org/officeDocument/2006/relationships/notesMaster" Target="../notesMasters/notesMaster1.xml"/><Relationship Id="Ra9b6bc70763842a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31f35656f5984ece" Type="http://schemas.openxmlformats.org/officeDocument/2006/relationships/notesMaster" Target="../notesMasters/notesMaster1.xml"/><Relationship Id="Rb8542b641b114b59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126af61b7fc24258" Type="http://schemas.openxmlformats.org/officeDocument/2006/relationships/notesMaster" Target="../notesMasters/notesMaster1.xml"/><Relationship Id="Rea87e6e0d70149b3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065443f1a7444740" Type="http://schemas.openxmlformats.org/officeDocument/2006/relationships/notesMaster" Target="../notesMasters/notesMaster1.xml"/><Relationship Id="R57eaeb095efc4a61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860da8711678478c" Type="http://schemas.openxmlformats.org/officeDocument/2006/relationships/slide" Target="../slides/slide7.xml"/><Relationship Id="Rfc3f3e13a5ec40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f3291bc7f984308" Type="http://schemas.openxmlformats.org/officeDocument/2006/relationships/notesMaster" Target="../notesMasters/notesMaster1.xml"/><Relationship Id="Rf2f68f9c6d5541c0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09fb940b2bac41c1" Type="http://schemas.openxmlformats.org/officeDocument/2006/relationships/notesMaster" Target="../notesMasters/notesMaster1.xml"/><Relationship Id="R83548f3b8ba94b1f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5474322e87f34870" Type="http://schemas.openxmlformats.org/officeDocument/2006/relationships/slide" Target="../slides/slide10.xml"/><Relationship Id="Rbed56e357a364563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19f45f1a40234b25" Type="http://schemas.openxmlformats.org/officeDocument/2006/relationships/notesMaster" Target="../notesMasters/notesMaster1.xml"/><Relationship Id="R5fa0010d9ef349db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dedf95fd0a104980" Type="http://schemas.openxmlformats.org/officeDocument/2006/relationships/slide" Target="../slides/slide12.xml"/><Relationship Id="Rfa4768b63bc94c6a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23496996c2c740e2" Type="http://schemas.openxmlformats.org/officeDocument/2006/relationships/notesMaster" Target="../notesMasters/notesMaster1.xml"/><Relationship Id="R69e20ba594114abc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2356bf43761d40dc" Type="http://schemas.openxmlformats.org/officeDocument/2006/relationships/notesMaster" Target="../notesMasters/notesMaster1.xml"/><Relationship Id="R8c7764232f8f4b8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9390a5f942ce4b17" Type="http://schemas.openxmlformats.org/officeDocument/2006/relationships/slide" Target="../slides/slide15.xml"/><Relationship Id="Rc8f1d14c6c5f411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6b719cac504847ee" Type="http://schemas.openxmlformats.org/officeDocument/2006/relationships/slide" Target="../slides/slide16.xml"/><Relationship Id="Rc8954860d3fe4400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54eb96f2da864705" Type="http://schemas.openxmlformats.org/officeDocument/2006/relationships/notesMaster" Target="../notesMasters/notesMaster1.xml"/><Relationship Id="R915b481f9572419c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a0fb94799f124aac" Type="http://schemas.openxmlformats.org/officeDocument/2006/relationships/slide" Target="../slides/slide18.xml"/><Relationship Id="Rdb502af6887e4900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aaa3b4057955458b" Type="http://schemas.openxmlformats.org/officeDocument/2006/relationships/slide" Target="../slides/slide19.xml"/><Relationship Id="Rb47c26ae4f9a4417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56f78e37f4f248d7" Type="http://schemas.openxmlformats.org/officeDocument/2006/relationships/notesMaster" Target="../notesMasters/notesMaster1.xml"/><Relationship Id="R8486b8b44a69420e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0cd40c520b10423d" Type="http://schemas.openxmlformats.org/officeDocument/2006/relationships/notesMaster" Target="../notesMasters/notesMaster1.xml"/><Relationship Id="R9a93cea25fec4ef6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05885806049e4ad1" Type="http://schemas.openxmlformats.org/officeDocument/2006/relationships/slide" Target="../slides/slide22.xml"/><Relationship Id="Rf4818f0652274f1a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83cdabe661cd4fb4" Type="http://schemas.openxmlformats.org/officeDocument/2006/relationships/notesMaster" Target="../notesMasters/notesMaster1.xml"/><Relationship Id="R92a61ae9e7964dfe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69d49c4aa3674ce1" Type="http://schemas.openxmlformats.org/officeDocument/2006/relationships/slide" Target="../slides/slide24.xml"/><Relationship Id="Rc94021dc201c4e67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688b7a357b684a4c" Type="http://schemas.openxmlformats.org/officeDocument/2006/relationships/slide" Target="../slides/slide25.xml"/><Relationship Id="Rc0c8aba086294336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47fa641156a04de9" Type="http://schemas.openxmlformats.org/officeDocument/2006/relationships/notesMaster" Target="../notesMasters/notesMaster1.xml"/><Relationship Id="R6e59c27339594d4e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92716aad270f421f" Type="http://schemas.openxmlformats.org/officeDocument/2006/relationships/slide" Target="../slides/slide27.xml"/><Relationship Id="Rb50de696fd674b89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3fbf6b6edc92442b" Type="http://schemas.openxmlformats.org/officeDocument/2006/relationships/notesMaster" Target="../notesMasters/notesMaster1.xml"/><Relationship Id="R94c0796a4bbb444a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a90277c492284417" Type="http://schemas.openxmlformats.org/officeDocument/2006/relationships/notesMaster" Target="../notesMasters/notesMaster1.xml"/><Relationship Id="Re48916bd8f164f8f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b3651282e4e94d58" Type="http://schemas.openxmlformats.org/officeDocument/2006/relationships/notesMaster" Target="../notesMasters/notesMaster1.xml"/><Relationship Id="Rc6c52e2ad65c4f4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0972857ad8364a67" Type="http://schemas.openxmlformats.org/officeDocument/2006/relationships/notesMaster" Target="../notesMasters/notesMaster1.xml"/><Relationship Id="R10c2a86a2f484dd4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9ed1dff3e4fc457a" Type="http://schemas.openxmlformats.org/officeDocument/2006/relationships/slide" Target="../slides/slide32.xml"/><Relationship Id="Rda13924357654fa3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f024f58242194866" Type="http://schemas.openxmlformats.org/officeDocument/2006/relationships/slide" Target="../slides/slide33.xml"/><Relationship Id="Rf4cbc347497a4e6c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717e4a5d19d041e7" Type="http://schemas.openxmlformats.org/officeDocument/2006/relationships/notesMaster" Target="../notesMasters/notesMaster1.xml"/><Relationship Id="Rc9bffaab34c04399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02cb0946571d428e" Type="http://schemas.openxmlformats.org/officeDocument/2006/relationships/slide" Target="../slides/slide35.xml"/><Relationship Id="R56fb5dee2ffa4ee0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2796958e1ae9482c" Type="http://schemas.openxmlformats.org/officeDocument/2006/relationships/notesMaster" Target="../notesMasters/notesMaster1.xml"/><Relationship Id="Re90449ec37194059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7233e3155e0247c6" Type="http://schemas.openxmlformats.org/officeDocument/2006/relationships/slide" Target="../slides/slide37.xml"/><Relationship Id="R8e3e3a68379649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- https://posit.co/download/rstudio-desktop/
- https://quarto.org/docs/get-started/
- https://pandoc.org/installing.html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https://cran.r-project.org/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  <a:p xmlns:a="http://schemas.openxmlformats.org/drawingml/2006/main">
            <a:r>
              <a:t>
[Sources]
- Start_Here/README.md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ffd2e19312e04cc6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caf03ad9a494d8f" Type="http://schemas.openxmlformats.org/officeDocument/2006/relationships/slideLayout" Target="../slideLayouts/slideLayout1.xml"/><Relationship Id="R84d97fa524c34b86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B476584A-2BBC-8ACE-5E41-9710F16DE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927600"/>
            <a:ext cx="942975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>
                <a:solidFill>
                  <a:srgbClr val="000000">
                    <a:alpha val="50000"/>
                  </a:srgbClr>
                </a:solidFill>
                <a:latin typeface="Aptos"/>
                <a:ea typeface="Aptos"/>
                <a:cs typeface="Aptos"/>
              </a:rPr>
              <a:t>Official Use Only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af03ad9a494d8f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80f3517b5d4480a" Type="http://schemas.openxmlformats.org/officeDocument/2006/relationships/notesSlide" Target="../notesSlides/notesSlide1.xml"/><Relationship Id="R66023548903948e0" Type="http://schemas.openxmlformats.org/officeDocument/2006/relationships/image" Target="../media/image2.png"/><Relationship Id="R88f0b1c8b1774d67" Type="http://schemas.openxmlformats.org/officeDocument/2006/relationships/image" Target="../media/image.png"/><Relationship Id="Rb76dbb90e0814423" Type="http://schemas.openxmlformats.org/officeDocument/2006/relationships/image" Target="../media/image5.png"/><Relationship Id="Rc06fbf9a3b3a42e1" Type="http://schemas.openxmlformats.org/officeDocument/2006/relationships/image" Target="../media/image4.png"/><Relationship Id="Re74cae5772d241c0" Type="http://schemas.openxmlformats.org/officeDocument/2006/relationships/slideLayout" Target="../slideLayouts/slideLayout1.xml"/><Relationship Id="Re86d0be45adc4b09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2dc6462b0da64e4d" Type="http://schemas.openxmlformats.org/officeDocument/2006/relationships/slideLayout" Target="../slideLayouts/slideLayout1.xml"/><Relationship Id="R71a2019f97894dc3" Type="http://schemas.openxmlformats.org/officeDocument/2006/relationships/image" Target="../media/image8.png"/><Relationship Id="Racf10cf2fcb544d1" Type="http://schemas.openxmlformats.org/officeDocument/2006/relationships/image" Target="../media/image7.png"/><Relationship Id="Rdb25b324b0fb4547" Type="http://schemas.openxmlformats.org/officeDocument/2006/relationships/image" Target="../media/image6.png"/><Relationship Id="Rf65da29ac70c4a10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120541030e9f4a71" Type="http://schemas.openxmlformats.org/officeDocument/2006/relationships/image" Target="../media/image7.png"/><Relationship Id="R2b8c05c503984125" Type="http://schemas.openxmlformats.org/officeDocument/2006/relationships/image" Target="../media/image11.png"/><Relationship Id="R6a9650e016a94624" Type="http://schemas.openxmlformats.org/officeDocument/2006/relationships/image" Target="../media/image10.png"/><Relationship Id="Rbe81482124f34386" Type="http://schemas.openxmlformats.org/officeDocument/2006/relationships/slideLayout" Target="../slideLayouts/slideLayout1.xml"/><Relationship Id="Rce28f1c0ef4a4a11" Type="http://schemas.openxmlformats.org/officeDocument/2006/relationships/notesSlide" Target="../notesSlides/notesSlide3.xml"/><Relationship Id="Rf71bae1d82bf4a8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1e53f78345044dd1" Type="http://schemas.openxmlformats.org/officeDocument/2006/relationships/image" Target="../media/image10.png"/><Relationship Id="R33c7f1cc56a94883" Type="http://schemas.openxmlformats.org/officeDocument/2006/relationships/image" Target="../media/image7.png"/><Relationship Id="R38e42a3dd713441f" Type="http://schemas.openxmlformats.org/officeDocument/2006/relationships/slideLayout" Target="../slideLayouts/slideLayout1.xml"/><Relationship Id="R61d2620024bc44c3" Type="http://schemas.openxmlformats.org/officeDocument/2006/relationships/image" Target="../media/image11.png"/><Relationship Id="Rae36ff2be90649b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65ae01ed8e5243db" Type="http://schemas.openxmlformats.org/officeDocument/2006/relationships/image" Target="../media/image7.png"/><Relationship Id="R66419866d4d44193" Type="http://schemas.openxmlformats.org/officeDocument/2006/relationships/image" Target="../media/image11.png"/><Relationship Id="R70aff0c5e9124726" Type="http://schemas.openxmlformats.org/officeDocument/2006/relationships/notesSlide" Target="../notesSlides/notesSlide5.xml"/><Relationship Id="R8de5566f2ee14242" Type="http://schemas.openxmlformats.org/officeDocument/2006/relationships/image" Target="../media/image10.png"/><Relationship Id="R953a687831204e6e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44c30d2169344fe5" Type="http://schemas.openxmlformats.org/officeDocument/2006/relationships/slideLayout" Target="../slideLayouts/slideLayout1.xml"/><Relationship Id="R6998754f60c84b17" Type="http://schemas.openxmlformats.org/officeDocument/2006/relationships/notesSlide" Target="../notesSlides/notesSlide6.xml"/><Relationship Id="R84f5616be90a463e" Type="http://schemas.openxmlformats.org/officeDocument/2006/relationships/image" Target="../media/image7.png"/><Relationship Id="R8bfa135d2f284cd6" Type="http://schemas.openxmlformats.org/officeDocument/2006/relationships/image" Target="../media/image10.png"/><Relationship Id="R9cfe2a20a6bb4c0a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308d5374719f4141" Type="http://schemas.openxmlformats.org/officeDocument/2006/relationships/notesSlide" Target="../notesSlides/notesSlide7.xml"/><Relationship Id="R3f22ce40553f41c0" Type="http://schemas.openxmlformats.org/officeDocument/2006/relationships/image" Target="../media/image11.png"/><Relationship Id="R4a6ce1d82bf8422f" Type="http://schemas.openxmlformats.org/officeDocument/2006/relationships/image" Target="../media/image10.png"/><Relationship Id="R9476a68ef47c4cb8" Type="http://schemas.openxmlformats.org/officeDocument/2006/relationships/image" Target="../media/image7.png"/><Relationship Id="Rdad497aaed94429c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6527fa97f061441b" Type="http://schemas.openxmlformats.org/officeDocument/2006/relationships/slideLayout" Target="../slideLayouts/slideLayout1.xml"/><Relationship Id="R8c787a8e11a64d6a" Type="http://schemas.openxmlformats.org/officeDocument/2006/relationships/notesSlide" Target="../notesSlides/notesSlide8.xml"/><Relationship Id="R920bde52509a436c" Type="http://schemas.openxmlformats.org/officeDocument/2006/relationships/image" Target="../media/image12.png"/></Relationships>
</file>

<file path=ppt/slides/_rels/slide9.xml.rels><?xml version='1.0' encoding='UTF-8' standalone='yes'?>
<Relationships xmlns="http://schemas.openxmlformats.org/package/2006/relationships"><Relationship Id="R011542f7581f45ec" Type="http://schemas.openxmlformats.org/officeDocument/2006/relationships/image" Target="../media/image.png"/><Relationship Id="R49a1402b644249b1" Type="http://schemas.openxmlformats.org/officeDocument/2006/relationships/notesSlide" Target="../notesSlides/notesSlide9.xml"/><Relationship Id="Rc5cd3ee4b720415e" Type="http://schemas.openxmlformats.org/officeDocument/2006/relationships/slideLayout" Target="../slideLayouts/slideLayout1.xml"/><Relationship Id="Rc868493c28fc4331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21a503aabb8942c5" Type="http://schemas.openxmlformats.org/officeDocument/2006/relationships/image" Target="../media/image13.png"/><Relationship Id="R4186170bf4ca4a1a" Type="http://schemas.openxmlformats.org/officeDocument/2006/relationships/image" Target="../media/image15.png"/><Relationship Id="R783d48d07fa74c32" Type="http://schemas.openxmlformats.org/officeDocument/2006/relationships/slideLayout" Target="../slideLayouts/slideLayout1.xml"/><Relationship Id="R7c73888a3b594318" Type="http://schemas.openxmlformats.org/officeDocument/2006/relationships/notesSlide" Target="../notesSlides/notesSlide10.xml"/><Relationship Id="Rb85bc0e372af4050" Type="http://schemas.openxmlformats.org/officeDocument/2006/relationships/image" Target="../media/image14.png"/><Relationship Id="Rd76afdf10483464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513b64e1427745f4" Type="http://schemas.openxmlformats.org/officeDocument/2006/relationships/slideLayout" Target="../slideLayouts/slideLayout1.xml"/><Relationship Id="R815304f8677448d6" Type="http://schemas.openxmlformats.org/officeDocument/2006/relationships/notesSlide" Target="../notesSlides/notesSlide11.xml"/><Relationship Id="R943e5efef10d4c2b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879faecb0d4146cd" Type="http://schemas.openxmlformats.org/officeDocument/2006/relationships/notesSlide" Target="../notesSlides/notesSlide12.xml"/><Relationship Id="R9c662d5bd28e4198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1ad21e2285794c77" Type="http://schemas.openxmlformats.org/officeDocument/2006/relationships/slideLayout" Target="../slideLayouts/slideLayout1.xml"/><Relationship Id="Rcdd6a393e0754b8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0ac52503ae3044e6" Type="http://schemas.openxmlformats.org/officeDocument/2006/relationships/image" Target="../media/image17.png"/><Relationship Id="R4aec4f70ef0f4e23" Type="http://schemas.openxmlformats.org/officeDocument/2006/relationships/notesSlide" Target="../notesSlides/notesSlide14.xml"/><Relationship Id="R4b197bfc7049473d" Type="http://schemas.openxmlformats.org/officeDocument/2006/relationships/image" Target="../media/image4.png"/><Relationship Id="R5c1ff3e803974725" Type="http://schemas.openxmlformats.org/officeDocument/2006/relationships/image" Target="../media/image18.png"/><Relationship Id="R7607e249eaa8409f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0bfb62a5b59741a3" Type="http://schemas.openxmlformats.org/officeDocument/2006/relationships/slideLayout" Target="../slideLayouts/slideLayout1.xml"/><Relationship Id="R0fc9a24976924b2b" Type="http://schemas.openxmlformats.org/officeDocument/2006/relationships/notesSlide" Target="../notesSlides/notesSlide15.xml"/><Relationship Id="R2ebe0a3cfc1e4133" Type="http://schemas.openxmlformats.org/officeDocument/2006/relationships/image" Target="../media/image2.png"/><Relationship Id="R8c874c37baa24ac9" Type="http://schemas.openxmlformats.org/officeDocument/2006/relationships/image" Target="../media/image.png"/></Relationships>
</file>

<file path=ppt/slides/_rels/slide16.xml.rels><?xml version='1.0' encoding='UTF-8' standalone='yes'?>
<Relationships xmlns="http://schemas.openxmlformats.org/package/2006/relationships"><Relationship Id="R6f0d3e3576b545c2" Type="http://schemas.openxmlformats.org/officeDocument/2006/relationships/notesSlide" Target="../notesSlides/notesSlide16.xml"/><Relationship Id="Rec56ea0ef868421e" Type="http://schemas.openxmlformats.org/officeDocument/2006/relationships/image" Target="../media/image19.png"/><Relationship Id="Rfd710559ec89401e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6f3a4c64d4e04502" Type="http://schemas.openxmlformats.org/officeDocument/2006/relationships/slideLayout" Target="../slideLayouts/slideLayout1.xml"/><Relationship Id="R8c226db72a3e4542" Type="http://schemas.openxmlformats.org/officeDocument/2006/relationships/notesSlide" Target="../notesSlides/notesSlide17.xml"/><Relationship Id="Ra29115f723124f7a" Type="http://schemas.openxmlformats.org/officeDocument/2006/relationships/image" Target="../media/image.jpeg"/></Relationships>
</file>

<file path=ppt/slides/_rels/slide18.xml.rels><?xml version='1.0' encoding='UTF-8' standalone='yes'?>
<Relationships xmlns="http://schemas.openxmlformats.org/package/2006/relationships"><Relationship Id="R1e768b2e349f4dd9" Type="http://schemas.openxmlformats.org/officeDocument/2006/relationships/image" Target="../media/image3.jpeg"/><Relationship Id="R2bd1965bcad64bf7" Type="http://schemas.openxmlformats.org/officeDocument/2006/relationships/notesSlide" Target="../notesSlides/notesSlide18.xml"/><Relationship Id="R45ee6e34a4554b66" Type="http://schemas.openxmlformats.org/officeDocument/2006/relationships/image" Target="../media/image2.jpeg"/><Relationship Id="Rc44a76cd156740ba" Type="http://schemas.openxmlformats.org/officeDocument/2006/relationships/image" Target="../media/image4.jpeg"/><Relationship Id="Rff7bde9e591f4b5b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01237b16374d4204" Type="http://schemas.openxmlformats.org/officeDocument/2006/relationships/image" Target="../media/image5.jpeg"/><Relationship Id="Re91e1ddb0b904849" Type="http://schemas.openxmlformats.org/officeDocument/2006/relationships/notesSlide" Target="../notesSlides/notesSlide19.xml"/><Relationship Id="Rfe6bac30751b43d7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0972fe4d9c35447b" Type="http://schemas.openxmlformats.org/officeDocument/2006/relationships/notesSlide" Target="../notesSlides/notesSlide20.xml"/><Relationship Id="Rc5ba2f955dd34d1b" Type="http://schemas.openxmlformats.org/officeDocument/2006/relationships/slideLayout" Target="../slideLayouts/slideLayout1.xml"/><Relationship Id="Rc6e3049e9be248b2" Type="http://schemas.openxmlformats.org/officeDocument/2006/relationships/image" Target="../media/image6.jpeg"/></Relationships>
</file>

<file path=ppt/slides/_rels/slide21.xml.rels><?xml version='1.0' encoding='UTF-8' standalone='yes'?>
<Relationships xmlns="http://schemas.openxmlformats.org/package/2006/relationships"><Relationship Id="R6d25d16f894f43eb" Type="http://schemas.openxmlformats.org/officeDocument/2006/relationships/notesSlide" Target="../notesSlides/notesSlide21.xml"/><Relationship Id="R921b038f3a13449a" Type="http://schemas.openxmlformats.org/officeDocument/2006/relationships/image" Target="../media/image7.jpeg"/><Relationship Id="Re9b371d47dcf44cf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463ceeccad864e39" Type="http://schemas.openxmlformats.org/officeDocument/2006/relationships/notesSlide" Target="../notesSlides/notesSlide22.xml"/><Relationship Id="R6eae0a9288f7429d" Type="http://schemas.openxmlformats.org/officeDocument/2006/relationships/image" Target="../media/image8.jpeg"/><Relationship Id="R7486cdd1f9064620" Type="http://schemas.openxmlformats.org/officeDocument/2006/relationships/slideLayout" Target="../slideLayouts/slideLayout1.xml"/><Relationship Id="Reb12a5d952854246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03ad18e823e34f43" Type="http://schemas.openxmlformats.org/officeDocument/2006/relationships/notesSlide" Target="../notesSlides/notesSlide23.xml"/><Relationship Id="R9ea3300fae7d4a4e" Type="http://schemas.openxmlformats.org/officeDocument/2006/relationships/image" Target="../media/image20.png"/><Relationship Id="Rbf3ab0a515d142df" Type="http://schemas.openxmlformats.org/officeDocument/2006/relationships/slideLayout" Target="../slideLayouts/slideLayout1.xml"/><Relationship Id="Rff79a88ffb994c54" Type="http://schemas.openxmlformats.org/officeDocument/2006/relationships/image" Target="../media/image9.jpeg"/></Relationships>
</file>

<file path=ppt/slides/_rels/slide24.xml.rels><?xml version='1.0' encoding='UTF-8' standalone='yes'?>
<Relationships xmlns="http://schemas.openxmlformats.org/package/2006/relationships"><Relationship Id="R0a09f81ad0da47f2" Type="http://schemas.openxmlformats.org/officeDocument/2006/relationships/slideLayout" Target="../slideLayouts/slideLayout1.xml"/><Relationship Id="R0c2b089369e64554" Type="http://schemas.openxmlformats.org/officeDocument/2006/relationships/image" Target="../media/image11.png"/><Relationship Id="R8d14f15b9697412a" Type="http://schemas.openxmlformats.org/officeDocument/2006/relationships/image" Target="../media/image10.png"/><Relationship Id="Rd90723eddf32487f" Type="http://schemas.openxmlformats.org/officeDocument/2006/relationships/image" Target="../media/image7.png"/><Relationship Id="Rf54345a016414ed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67a542e17e7a427d" Type="http://schemas.openxmlformats.org/officeDocument/2006/relationships/notesSlide" Target="../notesSlides/notesSlide25.xml"/><Relationship Id="R753f000f7d7a4fb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5b201cb2b654419a" Type="http://schemas.openxmlformats.org/officeDocument/2006/relationships/slideLayout" Target="../slideLayouts/slideLayout1.xml"/><Relationship Id="R609234d8e4534f6c" Type="http://schemas.openxmlformats.org/officeDocument/2006/relationships/image" Target="../media/image22.png"/><Relationship Id="Ra520599922564bab" Type="http://schemas.openxmlformats.org/officeDocument/2006/relationships/image" Target="../media/image21.png"/><Relationship Id="Raaa1e564a612433e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bc9c24d57236457e" Type="http://schemas.openxmlformats.org/officeDocument/2006/relationships/image" Target="../media/image24.png"/><Relationship Id="Rc0c67f7d765543e7" Type="http://schemas.openxmlformats.org/officeDocument/2006/relationships/notesSlide" Target="../notesSlides/notesSlide27.xml"/><Relationship Id="Rcbd7ad5e4ba44ac3" Type="http://schemas.openxmlformats.org/officeDocument/2006/relationships/image" Target="../media/image23.png"/><Relationship Id="Rf338a53dfc3d4939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c5a605ca761a453d" Type="http://schemas.openxmlformats.org/officeDocument/2006/relationships/notesSlide" Target="../notesSlides/notesSlide28.xml"/><Relationship Id="Rfad78626f55d4b23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103710e4805f414e" Type="http://schemas.openxmlformats.org/officeDocument/2006/relationships/image" Target="../media/image14.png"/><Relationship Id="R335a6b3d04b74879" Type="http://schemas.openxmlformats.org/officeDocument/2006/relationships/image" Target="../media/image20.png"/><Relationship Id="R854559831e8a4c4c" Type="http://schemas.openxmlformats.org/officeDocument/2006/relationships/notesSlide" Target="../notesSlides/notesSlide29.xml"/><Relationship Id="Ra9186cc3c5124f8f" Type="http://schemas.openxmlformats.org/officeDocument/2006/relationships/slideLayout" Target="../slideLayouts/slideLayout1.xml"/><Relationship Id="Rb049e60c5c534e16" Type="http://schemas.openxmlformats.org/officeDocument/2006/relationships/image" Target="../media/image15.png"/><Relationship Id="Rc07c1f80dc56481b" Type="http://schemas.openxmlformats.org/officeDocument/2006/relationships/image" Target="../media/image25.png"/></Relationships>
</file>

<file path=ppt/slides/_rels/slide30.xml.rels><?xml version='1.0' encoding='UTF-8' standalone='yes'?>
<Relationships xmlns="http://schemas.openxmlformats.org/package/2006/relationships"><Relationship Id="R3d92ee9b0cb94477" Type="http://schemas.openxmlformats.org/officeDocument/2006/relationships/image" Target="../media/image2.png"/><Relationship Id="R65551f45a27f4948" Type="http://schemas.openxmlformats.org/officeDocument/2006/relationships/slideLayout" Target="../slideLayouts/slideLayout1.xml"/><Relationship Id="R71efa7f874be4686" Type="http://schemas.openxmlformats.org/officeDocument/2006/relationships/image" Target="../media/image.png"/><Relationship Id="R7c115749778a4b9f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2123f095a65c4f42" Type="http://schemas.openxmlformats.org/officeDocument/2006/relationships/slideLayout" Target="../slideLayouts/slideLayout1.xml"/><Relationship Id="R270cd8e302ad4ee1" Type="http://schemas.openxmlformats.org/officeDocument/2006/relationships/image" Target="../media/image27.png"/><Relationship Id="R2951cde063b74fcd" Type="http://schemas.openxmlformats.org/officeDocument/2006/relationships/notesSlide" Target="../notesSlides/notesSlide31.xml"/><Relationship Id="R3e6bcfe6e3064359" Type="http://schemas.openxmlformats.org/officeDocument/2006/relationships/image" Target="../media/image26.png"/><Relationship Id="Raafc8612571f4fd1" Type="http://schemas.openxmlformats.org/officeDocument/2006/relationships/image" Target="../media/image14.png"/><Relationship Id="Rd77d8f7ad3344582" Type="http://schemas.openxmlformats.org/officeDocument/2006/relationships/image" Target="../media/image7.png"/></Relationships>
</file>

<file path=ppt/slides/_rels/slide32.xml.rels><?xml version='1.0' encoding='UTF-8' standalone='yes'?>
<Relationships xmlns="http://schemas.openxmlformats.org/package/2006/relationships"><Relationship Id="R0af96051ed024b94" Type="http://schemas.openxmlformats.org/officeDocument/2006/relationships/image" Target="../media/image5.png"/><Relationship Id="R73dd21d952534e55" Type="http://schemas.openxmlformats.org/officeDocument/2006/relationships/slideLayout" Target="../slideLayouts/slideLayout1.xml"/><Relationship Id="Rfc5f5f40689a4eea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13e912eaa6704ff7" Type="http://schemas.openxmlformats.org/officeDocument/2006/relationships/notesSlide" Target="../notesSlides/notesSlide33.xml"/><Relationship Id="Rb00457b6bf624448" Type="http://schemas.openxmlformats.org/officeDocument/2006/relationships/slideLayout" Target="../slideLayouts/slideLayout1.xml"/><Relationship Id="Rcd03625b384e4d7f" Type="http://schemas.openxmlformats.org/officeDocument/2006/relationships/image" Target="../media/image5.png"/></Relationships>
</file>

<file path=ppt/slides/_rels/slide34.xml.rels><?xml version='1.0' encoding='UTF-8' standalone='yes'?>
<Relationships xmlns="http://schemas.openxmlformats.org/package/2006/relationships"><Relationship Id="R52079827851644f6" Type="http://schemas.openxmlformats.org/officeDocument/2006/relationships/notesSlide" Target="../notesSlides/notesSlide34.xml"/><Relationship Id="Rcf5988e1557c4061" Type="http://schemas.openxmlformats.org/officeDocument/2006/relationships/slideLayout" Target="../slideLayouts/slideLayout1.xml"/><Relationship Id="Rddadaaf9926047e3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0be332a1a08f4abd" Type="http://schemas.openxmlformats.org/officeDocument/2006/relationships/slideLayout" Target="../slideLayouts/slideLayout1.xml"/><Relationship Id="R6104391cb47f4c14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5b6f95875a5b41f1" Type="http://schemas.openxmlformats.org/officeDocument/2006/relationships/slideLayout" Target="../slideLayouts/slideLayout1.xml"/><Relationship Id="R5f5ca234302942c0" Type="http://schemas.openxmlformats.org/officeDocument/2006/relationships/notesSlide" Target="../notesSlides/notesSlide36.xml"/><Relationship Id="R83c0bd7604174be0" Type="http://schemas.openxmlformats.org/officeDocument/2006/relationships/image" Target="../media/image24.png"/><Relationship Id="Rd5c58d1e30124ba2" Type="http://schemas.openxmlformats.org/officeDocument/2006/relationships/image" Target="../media/image28.png"/></Relationships>
</file>

<file path=ppt/slides/_rels/slide37.xml.rels><?xml version='1.0' encoding='UTF-8' standalone='yes'?>
<Relationships xmlns="http://schemas.openxmlformats.org/package/2006/relationships"><Relationship Id="R34b827c015da4665" Type="http://schemas.openxmlformats.org/officeDocument/2006/relationships/image" Target="../media/image30.png"/><Relationship Id="R384f95c6b0c44434" Type="http://schemas.openxmlformats.org/officeDocument/2006/relationships/image" Target="../media/image5.png"/><Relationship Id="R59692f7e4e194e60" Type="http://schemas.openxmlformats.org/officeDocument/2006/relationships/notesSlide" Target="../notesSlides/notesSlide37.xml"/><Relationship Id="R7f556b5d91e34ba3" Type="http://schemas.openxmlformats.org/officeDocument/2006/relationships/slideLayout" Target="../slideLayouts/slideLayout1.xml"/><Relationship Id="R87d2208d85344ef1" Type="http://schemas.openxmlformats.org/officeDocument/2006/relationships/image" Target="../media/image29.png"/><Relationship Id="Rbd286a9eb5c64694" Type="http://schemas.openxmlformats.org/officeDocument/2006/relationships/image" Target="../media/image.png"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f0b1c8b1774d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23548903948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94960" y="685800"/>
            <a:ext cx="3291840" cy="3127248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FC5EDAED-E55E-4987-8EC5-055E7E8EF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50292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8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EU SAE WIZARD &amp; DASHBOARD  ·  2026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F2489EA0-7104-486C-8FE8-57566E0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382F2E8-D878-4847-9869-E789C0D1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5156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 Practical Guide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3B055517-94D6-4A9F-BC44-CA44CF76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48463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 EU_SAE_application_package</a:t>
            </a:r>
            <a:r>
              <a:rPr sz="2500" b="1" i="1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/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F86112-5FDD-4DE9-9B52-DF6D892E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48463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Small Area Estimation of poverty and welfare indicators - from setup to outputs.</a:t>
            </a:r>
          </a:p>
        </p:txBody>
      </p:sp>
      <p:pic>
        <p:nvPicPr>
          <p:cNvPr id="2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6d0be45adc4b0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5935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FF0D4F19-4827-4609-B717-7C644F83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520440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package</a:t>
            </a:r>
          </a:p>
        </p:txBody>
      </p:sp>
      <p:pic>
        <p:nvPicPr>
          <p:cNvPr id="2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6fbf9a3b3a42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0873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C2B6A48-F63A-48BB-9669-71A89C9B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014216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Open Start_Here to choose a launcher</a:t>
            </a:r>
          </a:p>
        </p:txBody>
      </p:sp>
      <p:pic>
        <p:nvPicPr>
          <p:cNvPr id="2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6dbb90e08144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458114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8709F205-EF34-43EE-84AB-285FE13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507992"/>
            <a:ext cx="45720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 up Claude &amp; ChatGPT</a:t>
            </a:r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4B7F688B-D5CE-4E62-8307-1FB4A4CF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8630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spc="2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Prepared by Nobuo Yoshida  ·  World Bank Group</a:t>
            </a:r>
          </a:p>
        </p:txBody>
      </p:sp>
    </p:spTree>
    <p:extLst>
      <p:ext uri="{BB962C8B-B14F-4D97-AF65-F5344CB8AC3E}">
        <p14:creationId xmlns:p14="http://schemas.microsoft.com/office/powerpoint/2010/main" val="17073068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6316A03-60C4-4059-B024-EB32A06A3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ADC53D1A-1D95-496E-99D5-08937041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9F00A3B-BBD7-4999-B22F-5F1BC2FB4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3285DCB-4CD9-4519-B068-3A9445C6E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CE46B-974D-4D49-9BBF-4140C817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3B0092A-561B-4713-9C00-18EABCCF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B504E53-363A-40E9-BE1D-0E7C9D457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learn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CF7CDE6-1F19-4E78-9EC6-1BB381C5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parts, a clear path from zero to running analyses.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28B8C04A-384C-4B71-BC4D-EA5D01B1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AF350DC-AD47-4C11-8167-AA62C7DA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DB9917-0986-41F1-AB6B-449BA228B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25b324b0fb45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9936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F2E2532C-1C27-4094-9638-075D9387A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and set up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07AEE548-C385-42AA-B1B2-CA77AB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Install R and obtain the history-free 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 from the authorized release manager. One-time work.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CE02BD5-B856-4131-9BE5-74F2AFF06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F9AF7FD-1873-4EB3-B6D0-B835DF91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270CB173-7B3F-4FEB-8B2F-0FE8E7D6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f10cf2fcb544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7304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97EDE18A-B809-4C27-A6E6-AC48F44C7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Use the wizard or the dashboard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1CE799C-C200-4BB2-997D-78FA3A4E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 data, map variables, benchmark if needed, and run the UFH / MFH / Comparison pipeline.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F1FF3E4F-8251-4B0C-B448-7161618E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E278236-C266-47D5-8E6E-50368B66D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469979A4-7E8E-43AD-BD05-33C0F9BC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01168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a2019f97894d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0" y="2029968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1CBBD55-5E24-4E9E-B57A-62E14198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514600"/>
            <a:ext cx="21793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an AI Assistant (optional)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0BDED7C-3587-4013-B174-B9A9B531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017520"/>
            <a:ext cx="2179320" cy="1188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400"/>
              </a:spcAft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an approved provider or gateway only after acknowledging the external transfer; then enter a key.</a:t>
            </a:r>
          </a:p>
        </p:txBody>
      </p:sp>
    </p:spTree>
    <p:extLst>
      <p:ext uri="{BB962C8B-B14F-4D97-AF65-F5344CB8AC3E}">
        <p14:creationId xmlns:p14="http://schemas.microsoft.com/office/powerpoint/2010/main" val="5193000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FE362FD-39DB-4A0E-8700-2B7CBD1F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A427ABC-7ADB-4253-A68E-489492CD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4737AD-55D6-46A6-873C-68C97121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1B668CD-C353-4EC2-9933-88D2B0CEE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FCDA131-7DEB-4EC1-945C-F4656548C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FB3A1F8-A7A3-4447-A78F-3DC11732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69E1DFC-E750-45ED-940B-A8464BA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is the EU SAE application?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7965967-F1E7-4DB7-8D90-BDC7CF0C4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interfaces over one analysis engine, both guiding you through Small Area Estimation of poverty rates.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6FAEE36F-8D8F-4D6E-8199-487DE5B7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389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2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Two entry points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87E1AE7D-CD1C-4FAA-88E6-2E0766B6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94560"/>
            <a:ext cx="438912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spcAft>
                <a:spcPts val="600"/>
              </a:spcAft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will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load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survey, auxiliary, and geometry data,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fit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Fay–Herriot models (UFH and MFH),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compare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results side-by-side with maps and tables, and optionally </a:t>
            </a: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AI-assisted interpretation.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2837F6A1-20A9-4CEE-B94C-9CEDDB91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43891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1429AEFA-B93D-49EB-88D3-42001AE8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54864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D59BB261-96F9-4377-8512-004E159E1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3794760"/>
            <a:ext cx="413308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 launchers: open Start_Here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AC69347-66CA-4081-A182-445387695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35957E6-192E-456E-B0D1-29A6331A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1783080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1bae1d82bf4a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1929384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DC7D74-0CBA-4C18-8C7E-2E3D6252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819656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02E673E-0E1A-4CEF-BFC4-B81223C7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57400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Readiness diagnostics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70E39978-5574-492F-87B4-5BB2DFA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61B1F83-BFED-4525-AECE-77E4334CE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86584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0541030e9f4a7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25328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6C04764F-D1E7-4971-8E0D-CD30FB690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423160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UFH</a:t>
            </a:r>
          </a:p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D2D33A8A-BE8A-47FC-92FF-969D3595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660904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28C21722-EF0F-4D04-8B40-06C96801E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2">
            <a:extLst xmlns:a="http://schemas.openxmlformats.org/drawingml/2006/main">
              <a:ext uri="{FF2B5EF4-FFF2-40B4-BE49-F238E27FC236}">
                <a16:creationId xmlns:a16="http://schemas.microsoft.com/office/drawing/2014/main" id="{B04BFD5C-126B-45B5-A6D8-435864DF6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90088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650e016a946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136392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3">
            <a:extLst xmlns:a="http://schemas.openxmlformats.org/drawingml/2006/main">
              <a:ext uri="{FF2B5EF4-FFF2-40B4-BE49-F238E27FC236}">
                <a16:creationId xmlns:a16="http://schemas.microsoft.com/office/drawing/2014/main" id="{F239A335-06D9-4B3A-9B2D-454EEEB2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26664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MFH</a:t>
            </a:r>
          </a:p>
        </p:txBody>
      </p:sp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EF38DB57-6C29-41E3-B3DF-F89C793EF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264408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30" name="Shape 25">
            <a:extLst xmlns:a="http://schemas.openxmlformats.org/drawingml/2006/main">
              <a:ext uri="{FF2B5EF4-FFF2-40B4-BE49-F238E27FC236}">
                <a16:creationId xmlns:a16="http://schemas.microsoft.com/office/drawing/2014/main" id="{B1938FAB-2D15-4DF4-AC1D-17475A19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315468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6">
            <a:extLst xmlns:a="http://schemas.openxmlformats.org/drawingml/2006/main">
              <a:ext uri="{FF2B5EF4-FFF2-40B4-BE49-F238E27FC236}">
                <a16:creationId xmlns:a16="http://schemas.microsoft.com/office/drawing/2014/main" id="{FCC8514E-B9C8-4E16-8866-1F7BC576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593592"/>
            <a:ext cx="54864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c05c50398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87568" y="373989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B5070431-103C-4911-A4D0-DEE323926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30168"/>
            <a:ext cx="2514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Compare</a:t>
            </a:r>
          </a:p>
        </p:txBody>
      </p:sp>
      <p:sp>
        <p:nvSpPr>
          <p:cNvPr id="34" name="Text 28">
            <a:extLst xmlns:a="http://schemas.openxmlformats.org/drawingml/2006/main">
              <a:ext uri="{FF2B5EF4-FFF2-40B4-BE49-F238E27FC236}">
                <a16:creationId xmlns:a16="http://schemas.microsoft.com/office/drawing/2014/main" id="{E09369F1-E315-40CB-ACB2-FB3768CE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867912"/>
            <a:ext cx="25146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 vs MFH diagnostics</a:t>
            </a:r>
          </a:p>
        </p:txBody>
      </p:sp>
    </p:spTree>
    <p:extLst>
      <p:ext uri="{BB962C8B-B14F-4D97-AF65-F5344CB8AC3E}">
        <p14:creationId xmlns:p14="http://schemas.microsoft.com/office/powerpoint/2010/main" val="3178316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FA37F9D-92B5-4E50-8401-35B7D519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0A61C1C-8A26-4FE2-999A-7531E2513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14FA75-23C9-421E-AFBE-D2B0C612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F938DE0-2EC1-4BA4-901A-5F313C0D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852172A-B2F6-468A-AEAA-9900C77B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0D2CA4B-A0D6-4FD8-8ACE-6812596B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 can estimate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0D5ECB1-0EF2-4835-9FDA-3516267C5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Three indicator families, all from the same survey-plus-auxiliary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663F1991-B6BA-48BF-94B3-E8B680DE8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303FA1B-736F-4744-BA7D-939EA7F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5CE8A5AC-C7DA-4AE9-B614-7D61DF13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494E9F48-B413-4E9E-BB4E-CD0BF2BC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Poverty rate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7f1cc56a948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2E15DC9-C09C-46FC-9536-B5D11877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FGT(0) · headcount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FE7E9DB-37D1-40B4-A744-E115ADFE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Share of the population below the poverty line — the standard poverty rate.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6ED9F0AC-A9D0-4120-8E89-03C77531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96D4CA7-287E-43B1-8B68-43ADB853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40AC215-976B-46A1-90D5-9C15066F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2344225-6600-4E54-8EFE-EF69483C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Gap &amp; severity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53f78345044d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68A9878-B205-4292-8EB9-A2E011B3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FGT(1) and FGT(2)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861B72D4-6356-4C75-BDF7-55F5296C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Depth of poverty (average shortfall) and severity (more weight on the poorest).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25C1BDD4-E210-4DD3-8C70-F7893C75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B54112FE-1FBD-4422-B31D-8B02F95A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9609BC81-53B8-43BB-90F9-F40A7C14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INDICATOR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BAFAFAA2-20AD-4F5C-9DEC-F25E9840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Mean welfare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d2620024bc44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65EC1A0-2591-4BE4-AC9D-FB8DDA46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Income or consumption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19541D2C-40D2-4F85-BD87-89763E63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mean welfare, with an optional log scale and bias-corrected back-transform.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A62F621-5A62-4069-A296-8A05D7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1256B9E-92D8-432E-99CA-19005EE85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893FAFE-5E2B-44D2-87F3-033E7D4A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OVERVIEW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96123B5-FD5D-48B7-96F2-0A40A41E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42EC003-C6A4-4796-8F75-611D6E4F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4D0714E-E727-4FFB-A0FF-993AD6796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03BCC951-CE60-4B9C-98F7-86357B46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three-step pipeline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42E33782-081F-4695-9CC0-8CCA1A8C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Select which steps to run - wizard Step 4 (Models), or the dashboard sidebar.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72CCC7-6A26-481F-BF50-8E8090400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FCC2F64-B54E-4922-B5C7-251D8428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06E6D77-802C-4736-8E79-E205C902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97ACD8-947B-43FB-943D-C43CBCFE4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UFH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e01ed8e5243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4F2007D5-CC6F-4D4E-A770-918B2A82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Univariate Fay–Herriot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5143E5-2E6F-4939-B19A-6551DDB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Fits one model per year, independently. A solid baseline.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3DAE8237-31E4-4EA2-BBD7-52A833ED2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913195E-36E8-4B00-92CB-A6FCB197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B7A56C09-CB3B-4182-AB5F-DF4D5164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DC967DF3-F583-4042-A2B8-69D5BBF8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MFH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5566f2ee142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B16ACDA2-6FBD-49ED-AF07-F0248A180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Multivariate Fay–Herriot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BEEBD628-0F2E-45E8-9DF4-A2054B42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Jointly models years, borrowing strength across time.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E702CD59-1830-4950-AD18-F05B5AE3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503E2E17-049A-4DA6-B781-6926438D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DB4B5C92-5712-4CE0-AF89-3F61762C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STEP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F28E04FB-AD83-4B1C-B760-C64179CF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419866d4d4419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65CE08E7-7DDA-436A-93E9-835AA692B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vs MFH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3FFCB2C9-A9E2-4DED-82EE-5E3085E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Maps, scatter plots, and precision metrics to pick a model.</a:t>
            </a:r>
          </a:p>
        </p:txBody>
      </p:sp>
    </p:spTree>
    <p:extLst>
      <p:ext uri="{BB962C8B-B14F-4D97-AF65-F5344CB8AC3E}">
        <p14:creationId xmlns:p14="http://schemas.microsoft.com/office/powerpoint/2010/main" val="10019884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datasets to prepare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to select the three input files from any folder on your computer.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5616be90a463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Household microdata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Household microdata with year, domain, PSU, weight, household size, welfare, poverty line, and optional strata or benchmark-level columns. Accepted formats: RDS/RData, CSV/TSV/TXT/DAT, Stata, SPSS, SAS, Parquet/Feather, and Excel.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2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fa135d2f284c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Subnational aggregates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Domain-level covariates for the same areas and years used in the analysis. Accepted formats: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DATASET 3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Shapefile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fe2a20a6bb4c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Geographic boundaries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Polygon boundaries for the target domains. Use ESRI .zip with valid .shp/.shx/.dbf, .rds, .gpkg, or GeoJSON. Domain IDs must match the survey and auxiliary files.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PATH2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8B77CFD-EDC2-43E9-9669-BE7F7762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F164E53-7A4A-4B9A-A980-5DBE1278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90D20A9-D763-4C5A-8AD2-9773DF86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8BDE2CB-6D29-4D92-964C-7CF4600E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76ECD24-2BF4-4F7A-A167-27E1FB9A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3F775ED-B63F-41F2-B0EE-B9CF44A9B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formats are very flexible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7E82F4C-B09D-47EA-A39F-93FA33B3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Each input accepts many common formats — the app reads them automatically.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90A1677-4817-402B-BBDD-0A2B4FF8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DFC1D7D-DC5B-4B7E-A181-E77D0D94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A9CF47C-DF5B-4AA4-93B0-1E9FE0971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SURVEY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19AD2D-7188-4D07-8FA9-C43C0AA4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Household data</a:t>
            </a:r>
          </a:p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76a68ef47c4c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7192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5FCED2EB-465C-417E-8A5C-11BFAC227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D193832-3031-48F8-9C0E-9FC59B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RDS/RData, CSV, TSV, TXT, DAT, Stata, SPSS, SAS, Parquet, Feather, and Excel — person or household microdata in whichever you already have.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68715DF-3AC6-4DB2-9B26-CE9A4FCB1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E6AF43B4-8C7D-4803-9B8D-3CFEF500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D7468E89-5FA8-4D76-B6FB-EC86F448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AUXILIARY</a:t>
            </a:r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F45C387-1FC9-4F9B-A8E9-63C5F006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Area covariates</a:t>
            </a:r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6ce1d82bf842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560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12B787CF-7731-4A06-82A0-049178FE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table format</a:t>
            </a:r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87C8193-4EC7-4AAD-8560-A50A4864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same table formats as the survey: RDS/RData, CSV/TSV/TXT/DAT, Stata, SPSS, SAS, Parquet/Feather, and Excel.</a:t>
            </a:r>
          </a:p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3DD711F2-E084-4F75-86C8-AD3CF0AE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1">
            <a:extLst xmlns:a="http://schemas.openxmlformats.org/drawingml/2006/main">
              <a:ext uri="{FF2B5EF4-FFF2-40B4-BE49-F238E27FC236}">
                <a16:creationId xmlns:a16="http://schemas.microsoft.com/office/drawing/2014/main" id="{C7E43238-F96C-46FD-ACC6-E6C84E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2">
            <a:extLst xmlns:a="http://schemas.openxmlformats.org/drawingml/2006/main">
              <a:ext uri="{FF2B5EF4-FFF2-40B4-BE49-F238E27FC236}">
                <a16:creationId xmlns:a16="http://schemas.microsoft.com/office/drawing/2014/main" id="{BB6646A1-F121-4A93-88BD-D650D437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20240"/>
            <a:ext cx="21336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GEOMETRY</a:t>
            </a:r>
          </a:p>
        </p:txBody>
      </p:sp>
      <p:sp>
        <p:nvSpPr>
          <p:cNvPr id="27" name="Text 23">
            <a:extLst xmlns:a="http://schemas.openxmlformats.org/drawingml/2006/main">
              <a:ext uri="{FF2B5EF4-FFF2-40B4-BE49-F238E27FC236}">
                <a16:creationId xmlns:a16="http://schemas.microsoft.com/office/drawing/2014/main" id="{4B897063-84DB-46AB-B295-D9579490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39696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Boundaries</a:t>
            </a:r>
          </a:p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2ce40553f41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9288" y="269748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9" name="Text 24">
            <a:extLst xmlns:a="http://schemas.openxmlformats.org/drawingml/2006/main">
              <a:ext uri="{FF2B5EF4-FFF2-40B4-BE49-F238E27FC236}">
                <a16:creationId xmlns:a16="http://schemas.microsoft.com/office/drawing/2014/main" id="{227B982F-CEF8-45F6-A6CE-865AE99F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17221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Any GIS format</a:t>
            </a:r>
          </a:p>
        </p:txBody>
      </p:sp>
      <p:sp>
        <p:nvSpPr>
          <p:cNvPr id="30" name="Text 25">
            <a:extLst xmlns:a="http://schemas.openxmlformats.org/drawingml/2006/main">
              <a:ext uri="{FF2B5EF4-FFF2-40B4-BE49-F238E27FC236}">
                <a16:creationId xmlns:a16="http://schemas.microsoft.com/office/drawing/2014/main" id="{BB44623A-DDA7-42DB-AE7A-AC9C5792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0896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ESRI shapefile .zip (with valid .shp/.shx/.dbf), RDS/RData, GeoPackage (.gpkg), GeoJSON/JSON, KML, and GML.</a:t>
            </a:r>
          </a:p>
        </p:txBody>
      </p:sp>
      <p:sp>
        <p:nvSpPr>
          <p:cNvPr id="31" name="Text 2">
            <a:extLst xmlns:a="http://schemas.openxmlformats.org/drawingml/2006/main">
              <a:ext uri="{FF2B5EF4-FFF2-40B4-BE49-F238E27FC236}">
                <a16:creationId xmlns:a16="http://schemas.microsoft.com/office/drawing/2014/main" id="{A221DF0C-5EE4-40E9-8F00-5AD18515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DATA INPUTS</a:t>
            </a:r>
          </a:p>
        </p:txBody>
      </p:sp>
    </p:spTree>
    <p:extLst>
      <p:ext uri="{BB962C8B-B14F-4D97-AF65-F5344CB8AC3E}">
        <p14:creationId xmlns:p14="http://schemas.microsoft.com/office/powerpoint/2010/main" val="2346869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BDB58AA-35AF-4D6D-84F9-7B43DBB32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874435-3C7C-4041-9FF1-D1B8C14E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5DAD5A5-9084-4D80-9309-38F9E084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FAST PATH1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F7471AD-6B3C-44D8-A5A7-5F1864EA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BC46A48-D36C-4083-85B2-CD95312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38A39A4-E994-4E3D-9291-F4C2D8D9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3C88B7E-3F2A-4F5A-B7E1-7018717B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shortcut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26AF3-D03A-4520-9FEC-76C819E7A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Set the essentials - the defaults handle the rest.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5602A60-B83A-4415-A6DC-8012E5284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365760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89A8E59-CEB7-47B7-B262-4B6217BD2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ACC7ABC3-74BE-4F6A-B4FF-FBAFD91A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719072"/>
            <a:ext cx="32918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 UP  ·  ONE TIME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D58B242-EEE9-4FB4-A1E9-D6912A8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package and prepare approved local survey, auxiliary, and geometry files.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A806130-3527-459C-9F65-F57B059A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2D62E143-7A51-4810-846A-B5A57C10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6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8935EAE-5E80-46B9-A22A-76B652D69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2898648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DE1CD747-C9B4-4E41-8608-FBA27352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8207EF5E-FD83-40F4-9DE7-B7D7F4FE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3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60173BD-0DE3-4108-A28E-A484AB295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726" y="3438144"/>
            <a:ext cx="2788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F7B7081-07D9-42E7-A11C-76FCA7D4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166" y="345277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89FD7E51-F9A1-4B4B-9860-ADD637FB8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DE19312-2B72-41D2-9699-937117F4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0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D394E440-5229-4320-81DC-625A6365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292" y="2450592"/>
            <a:ext cx="2697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latin typeface="Consolas"/>
                <a:ea typeface="Consolas"/>
                <a:cs typeface="Consolas"/>
              </a:rPr>
              <a:t>Browse data files from any folder</a:t>
            </a:r>
          </a:p>
        </p:txBody>
      </p:sp>
      <p:sp>
        <p:nvSpPr>
          <p:cNvPr id="101" name="Text 101">
            <a:extLst xmlns:a="http://schemas.openxmlformats.org/drawingml/2006/main">
              <a:ext uri="{FF2B5EF4-FFF2-40B4-BE49-F238E27FC236}">
                <a16:creationId xmlns:a16="http://schemas.microsoft.com/office/drawing/2014/main" id="{6C58BAC0-5459-45D9-9BC0-95316FE9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878880"/>
            <a:ext cx="365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102" name="Text 102">
            <a:extLst xmlns:a="http://schemas.openxmlformats.org/drawingml/2006/main">
              <a:ext uri="{FF2B5EF4-FFF2-40B4-BE49-F238E27FC236}">
                <a16:creationId xmlns:a16="http://schemas.microsoft.com/office/drawing/2014/main" id="{F828A54E-EDB9-439A-92C1-18F2788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833160"/>
            <a:ext cx="2788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 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9F1E9BD7-B0DF-41DC-99AE-8D758964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674620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2D5A509A-C2A1-4A5A-96AA-BDE3ABFC2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4023360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236E1A2E-95F7-4AB6-A880-FCF7206F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554480"/>
            <a:ext cx="54864" cy="2788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5434756-2715-4CD7-BAE8-6843FCC1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19072"/>
            <a:ext cx="3657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IN THE APP  ·  EVERY RUN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512D63FD-3F6B-4B38-AD6C-AA840E58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975104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the required settings; revisit advanced options only when diagnostics suggest it.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DA4B28E-4116-495B-8BFB-AC9D4AC7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6C5FC15F-7A8A-426E-A580-34B7EE400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32257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1E93685C-6A3F-4A7C-9866-0A4D81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28600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analysis years and optional run label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D762EF1B-79E0-48A3-87D9-575F6FA0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43230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e.g., 2012, 2013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54B24186-CD2F-4B24-92CF-E75A9E8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43D696E2-90E5-4B54-ADCD-5616891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61518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9F03212-E09B-425D-AEF9-39E54B7E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57860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survey, auxiliary, and geometry files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8E2661E3-A58F-4502-B27D-A48CC96F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72491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survey + auxiliary + geometry</a:t>
            </a:r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BA2707C9-5EB5-4149-A369-49194A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E0CFABB1-61F7-4DB0-BD28-6AC2D0D9C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907792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7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E1AD94D1-BAC4-402B-A770-16C4CD76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2871216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Map key variables</a:t>
            </a:r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E894925-B505-43C0-9B78-2071777A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017520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year, domain, weight, hhsize, welfare</a:t>
            </a:r>
          </a:p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BF4FAB5-ABAF-4CB8-9736-E2448BF8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6CD350C1-8DD0-4AE8-B881-7F08CFF0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200400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8</a:t>
            </a:r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EBDA24D-E1EA-467F-9348-186E76FA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163824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Confirm PSU consistency</a:t>
            </a:r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2D1C778E-C4FE-4567-BDD8-66E4B0ACA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310128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select whether PSUs are consistent across years</a:t>
            </a:r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8B51FA3E-ACA9-4FEC-B74A-1CBF96A7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A8CAE"/>
          </a:solidFill>
          <a:ln xmlns:a="http://schemas.openxmlformats.org/drawingml/2006/main" w="12700">
            <a:solidFill>
              <a:srgbClr val="7A8CA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0975E08E-B0A3-4383-BD69-B6981223A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493008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9</a:t>
            </a:r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4EE53A1E-51E4-4DDD-B668-C46BD0D9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456432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 i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C81C3617-FBC0-45BF-AF81-0D2EC247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602736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paste a Claude or ChatGPT key for diagnostics</a:t>
            </a:r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EA8AF779-436C-4723-BC31-0BDCB3D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6E1A239F-E1C1-4F52-8DAA-93FEEF99E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785616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2CBED9E1-2214-4398-A60F-9A5533D9F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749040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Check Data Readiness</a:t>
            </a:r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2AE7A36D-8EED-4B39-ADF9-EC3CEDB9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3895344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readiness diagnostics only - wizard Step 6, or the dashboard sidebar</a:t>
            </a:r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CF972FD1-D56C-4104-99E0-BF6F9980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A115C235-0BCB-4836-91ED-5055979E5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078224"/>
            <a:ext cx="256032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4127F04B-16EB-4256-A149-5C9F2480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041648"/>
            <a:ext cx="3291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Run Analysis</a:t>
            </a:r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9C04FC67-625B-4E74-8F1A-DA32C4896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2080" y="4187952"/>
            <a:ext cx="3291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UFH + MFH + Comparison run; outputs are archived by run label</a:t>
            </a:r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CCA6D316-A456-44F8-84FB-C3A9746D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16552"/>
            <a:ext cx="813816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6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0bde52509a43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71416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60" name="Text 57">
            <a:extLst xmlns:a="http://schemas.openxmlformats.org/drawingml/2006/main">
              <a:ext uri="{FF2B5EF4-FFF2-40B4-BE49-F238E27FC236}">
                <a16:creationId xmlns:a16="http://schemas.microsoft.com/office/drawing/2014/main" id="{1521F494-2021-4A54-A93F-153B084BF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16552"/>
            <a:ext cx="758952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That's it.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Current outputs go to outputs/. A saved copy is archived under app_runs/&lt;timestamp&gt;_&lt;run_label&gt;/outputs.</a:t>
            </a:r>
          </a:p>
        </p:txBody>
      </p:sp>
    </p:spTree>
    <p:extLst>
      <p:ext uri="{BB962C8B-B14F-4D97-AF65-F5344CB8AC3E}">
        <p14:creationId xmlns:p14="http://schemas.microsoft.com/office/powerpoint/2010/main" val="696178688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1542f7581f45e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8493c28fc43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12D8E63-4DBB-42BA-A20E-331196A1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01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EBAFCE-DAD1-43F3-88DF-A20602EA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1C56F2C-F673-48AD-A92F-C987783C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Setting up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your computer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A165F8C-3CAD-47A7-94BB-93FD4D9EB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Install R and download the EU SAE Dashboard.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C6D282A-9854-42C1-9CAA-EE4F750F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9 / 37</a:t>
            </a:r>
          </a:p>
        </p:txBody>
      </p:sp>
    </p:spTree>
    <p:extLst>
      <p:ext uri="{BB962C8B-B14F-4D97-AF65-F5344CB8AC3E}">
        <p14:creationId xmlns:p14="http://schemas.microsoft.com/office/powerpoint/2010/main" val="13410395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A7EA98A-1E2B-44F4-96C3-7958D2E42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450EB66-FE99-455E-A116-2FBDEFFB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9C2C2FD-385C-4C84-946C-6876DF5E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948C46F4-A236-43AC-9679-79D9D53A3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2187FCD-AE53-40CE-A216-818B715F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01F5DDE-3CF9-4FBA-8193-36AF9BD8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9D7975F-BD02-4449-98C8-6D911802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Prerequisites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4A23CEB-4BB0-4FE9-BFD3-104E600ED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4.2+, one Pandoc provider, and the app; AI is optional.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D448D9-C06F-493F-AC34-24C38E1E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79BDBF90-3CBF-4645-9CCD-D709E5A6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503aabb8942c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E2BD6BBF-046F-4C94-86C2-20C5CFC7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7356DFCD-D9D5-42B9-AA7A-33B9BE92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 4.2+ - approved versions work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91A78E29-105F-491C-A82D-72738836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cran.r-project.org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820CEB6-9E28-4B5D-99FF-1B81234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A87C735F-5497-4FD7-8B6E-3DCB4A3D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afdf1048346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BED8B54-CF56-44A0-A1F0-191FC1B6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99339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Dashboard</a:t>
            </a:r>
          </a:p>
        </p:txBody>
      </p:sp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71D9D22F-7BDA-4AD8-A7BE-490561C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30428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itself - from the authorized release manager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1741868-9BBD-44A1-95F0-47339D54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260604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Authorized release manager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6FB69A7D-8FB5-43CB-B589-9241470E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9571E4ED-8188-4F57-A9E1-F949605DF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5bc0e372af405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895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20">
            <a:extLst xmlns:a="http://schemas.openxmlformats.org/drawingml/2006/main">
              <a:ext uri="{FF2B5EF4-FFF2-40B4-BE49-F238E27FC236}">
                <a16:creationId xmlns:a16="http://schemas.microsoft.com/office/drawing/2014/main" id="{5351BBD2-7E1E-4448-A1CC-1029F562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keys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064A4A8A-38A1-47D6-B4E8-E17588F5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 ·  Claude or ChatGPT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1723EA3E-89F0-4AA3-9C21-7551A7A41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see Part 3 of this guide</a:t>
            </a:r>
          </a:p>
        </p:txBody>
      </p:sp>
      <p:sp>
        <p:nvSpPr>
          <p:cNvPr id="28" name="Shape 23">
            <a:extLst xmlns:a="http://schemas.openxmlformats.org/drawingml/2006/main">
              <a:ext uri="{FF2B5EF4-FFF2-40B4-BE49-F238E27FC236}">
                <a16:creationId xmlns:a16="http://schemas.microsoft.com/office/drawing/2014/main" id="{60B965A7-110C-4251-924F-EB8596F6A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393192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4">
            <a:extLst xmlns:a="http://schemas.openxmlformats.org/drawingml/2006/main">
              <a:ext uri="{FF2B5EF4-FFF2-40B4-BE49-F238E27FC236}">
                <a16:creationId xmlns:a16="http://schemas.microsoft.com/office/drawing/2014/main" id="{512C6301-DA4D-4620-B6FF-105E7DC0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29184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86170bf4ca4a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5192" y="356616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1" name="Text 25">
            <a:extLst xmlns:a="http://schemas.openxmlformats.org/drawingml/2006/main">
              <a:ext uri="{FF2B5EF4-FFF2-40B4-BE49-F238E27FC236}">
                <a16:creationId xmlns:a16="http://schemas.microsoft.com/office/drawing/2014/main" id="{FD021961-03FF-4C0F-B49E-ED02108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456432"/>
            <a:ext cx="29260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generation</a:t>
            </a:r>
          </a:p>
        </p:txBody>
      </p:sp>
      <p:sp>
        <p:nvSpPr>
          <p:cNvPr id="32" name="Text 26">
            <a:extLst xmlns:a="http://schemas.openxmlformats.org/drawingml/2006/main">
              <a:ext uri="{FF2B5EF4-FFF2-40B4-BE49-F238E27FC236}">
                <a16:creationId xmlns:a16="http://schemas.microsoft.com/office/drawing/2014/main" id="{368BA602-64F8-4967-B361-0A373ED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3767328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of: RStudio, Quarto, or Pandoc</a:t>
            </a:r>
          </a:p>
        </p:txBody>
      </p:sp>
      <p:sp>
        <p:nvSpPr>
          <p:cNvPr id="33" name="Text 27">
            <a:extLst xmlns:a="http://schemas.openxmlformats.org/drawingml/2006/main">
              <a:ext uri="{FF2B5EF4-FFF2-40B4-BE49-F238E27FC236}">
                <a16:creationId xmlns:a16="http://schemas.microsoft.com/office/drawing/2014/main" id="{11EAC43C-F389-4922-B87B-B1722BEB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069080"/>
            <a:ext cx="29260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6AA7D9"/>
                </a:solidFill>
                <a:latin typeface="Consolas"/>
                <a:ea typeface="Consolas"/>
                <a:cs typeface="Consolas"/>
              </a:rPr>
              <a:t>one free option is enough</a:t>
            </a:r>
          </a:p>
        </p:txBody>
      </p:sp>
    </p:spTree>
    <p:extLst>
      <p:ext uri="{BB962C8B-B14F-4D97-AF65-F5344CB8AC3E}">
        <p14:creationId xmlns:p14="http://schemas.microsoft.com/office/powerpoint/2010/main" val="11503378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73136DB-8D7D-4707-908E-03B7C1B1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DADFC2C-4ADB-4770-8512-FBD7FE41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C4881E4-815D-42CB-B88F-7FF3F9FD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1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0CB16B3-9C03-4EEE-B9A5-840333C68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7336D0A7-7E4A-41A5-9FFA-47CA660A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EBC2C0-CC6F-4A28-9F9D-5120E5DD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5739F8A-EDC4-4BCB-93FE-764FD4B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D4F0A36-FEA4-4C99-828D-015D9A23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statistical engine that powers everything else.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8E0B86E-411D-4144-B33B-D7E2E003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CA2F328-462C-493F-9536-0B9C9086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BEA5908-B0FF-4D36-BA3F-BE4B5FFD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Go to cran.r-project.org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862D903-787A-4D7B-8B32-12FDBD68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5080089-E471-43B1-AEF0-23692D9E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9F5F3F7-CB49-463B-843F-F1A886F7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Download R for Windows, Mac, or Linux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3E941B62-4040-45D4-8B8E-018C4A2A4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3F92970-FAD2-4B0D-8D8F-EAA84A73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0E1D52B-4F62-473C-9C17-4F20185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Install R 4.2+ using your approved version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F2D041A-4E7E-447F-9DE4-29CA787D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B86EF5D-0F87-4F02-989D-2CD3F182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AD7FF0D5-8587-4527-BBA6-CE03EDEEF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800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absolute latest R release is not required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91AD601E-301F-4D82-9133-09FD15D52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828800"/>
            <a:ext cx="2514600" cy="2560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e5efef10d4c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214884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6136ED33-4804-493E-A6DE-9A458F41F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06040"/>
            <a:ext cx="19659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R first?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B2B67E1-435C-44AA-AA21-6305D894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71800"/>
            <a:ext cx="19659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R 4.2+ powers the dashboard. Use the newest version your organization approves; the absolute latest R release is not required.</a:t>
            </a:r>
          </a:p>
        </p:txBody>
      </p:sp>
    </p:spTree>
    <p:extLst>
      <p:ext uri="{BB962C8B-B14F-4D97-AF65-F5344CB8AC3E}">
        <p14:creationId xmlns:p14="http://schemas.microsoft.com/office/powerpoint/2010/main" val="3228429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DAD79B3-E39E-4C9F-BC9B-51486AEF8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D7290C7-B337-4BE6-8212-A01CEC88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BB879-8ED2-49EE-8800-586995619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2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985416-92BD-4E2A-B004-FB454CD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92ACB96-F3C4-446C-8BE8-1C53D3A7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9CE7D76-4EA7-400E-9EA4-EF70A33C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86B0B9F-C28C-4ED9-8742-D081C8BC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Download the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3B36C8C-6F87-41C1-8ED2-7621E25E7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Obtain the history-free 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 clean archive.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9637C0BF-56AA-4D96-9829-24A053E8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25D358F-7D5B-41D9-9678-886F039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AECBB18-FE42-420B-BEA5-5D5C3493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28800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the archive from the authorized release manager. Do not use an automatic GitHub source archive.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9754C05-130F-458D-86F9-3806521C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5FA61A98-E87D-404A-8C56-D5889172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4144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49C691C-9B6E-44E7-89C7-F687CBDB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Windows: right-click the ZIP → Properties → check Unblock → OK, then Extract All.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9FB6EDE-57C9-47FB-BE95-7C768A987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256E7EE-3A86-4A0E-BF6B-8EA1867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00837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A802340-67AA-466D-BE2E-95122FF5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62656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Choose a convenient location. The extracted folder name may include the release tag.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4194F8-8391-46BD-B6CE-9C30BA8A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35DC729-FCE3-4560-802D-4D3894AB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7530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EA90A769-0424-4BEF-803F-1860AD68E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529584"/>
            <a:ext cx="44348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EU_SAE_wizard_5.2.0-rc.6-wizard.5.5. Windows launchers are in Start_Here. The package includes apps, scripts, tests and docs. Examples: Data/simulated/ and Data/Spain/.</a:t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  <a:r>
              <a:rPr sz="12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/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0885CBFB-1984-4073-9C63-B1D3D195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0" y="1783080"/>
            <a:ext cx="27889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9525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996D8CB7-7A46-4608-BEA8-3C3ADACB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1965960"/>
            <a:ext cx="246888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EU_SAE_wizard_5.2.0-rc.6-wizard.5.5/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/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app.R + Start_Here/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R/ + scripts/ + tests/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outputs/ (empty)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</a:t>
            </a: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docs/ + Data/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├── LICENSE + NOTICE</a:t>
            </a:r>
          </a:p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└── release_manifest.csv</a:t>
            </a:r>
          </a:p>
        </p:txBody>
      </p:sp>
    </p:spTree>
    <p:extLst>
      <p:ext uri="{BB962C8B-B14F-4D97-AF65-F5344CB8AC3E}">
        <p14:creationId xmlns:p14="http://schemas.microsoft.com/office/powerpoint/2010/main" val="3015335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4BD22DB-F4E2-406A-A045-B4849B46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6CF35-C978-4FC4-A8C0-D8D027BD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0D72975-06B8-456D-B49F-C7EC50CB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3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763BFBE2-34E6-494D-B40A-0FB4327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C5F36E2-8EBD-4C09-855C-37E3A78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C106723-7679-4FDE-BCEF-0167079E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D6FB098-1239-4D03-A9D2-885DD6E5A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Automatic package installation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F40EC62-02C5-4A4C-8A49-37C5797D5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 first launch, either launcher automatically installs all required packages.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8AEBCA3-F1E9-4D0A-ABCB-86D8C18E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244842D-07BA-4B68-9334-2A5B4F0B3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6E91B342-40EC-41AE-A82C-B4B0E8D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Runs automatically on first launch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928BD5CC-30F4-4773-A803-69D63CCC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42316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script checks what is already installed and only downloads what is missing.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14EEE255-5634-4BCD-AAF5-5C712787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AEA9F45-4ECA-4CDB-BA4A-5A5C96385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D5CEAC7-6B41-46C1-9643-FCB53681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Shiny UI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43E18A6-8F54-4D3D-9AB2-9316F383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shiny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7D1757E0-A588-4B6A-9EBC-98307710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AE6B6FC8-0F0E-4883-8035-714263DA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A0AB043-19D6-410D-B09F-13A8640B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SAE models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F7904BA-EDD2-4C37-B670-D4FB74B9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emdi, sae, msae, survey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4A1323A2-BD70-460A-9CEC-9A5B9FA4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00700F29-7882-4D6E-A2A6-055933F7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92608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8E4B2B5-27E9-4F54-B431-6B336D05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03580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wrangling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DDAC5A23-3047-44A7-9149-55A2433FE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331012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dplyr, tidyr, data.table, readxl, haven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16CF7D0-B241-4C4A-A195-0760C1391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16325B8-771B-4CB8-B354-BCBA788A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DF37221-4177-45C6-85EF-9FAA934C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Visualization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58E99D-7A69-4EB4-B7BE-484FA3844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ggplot2, sf, viridis, patchwork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9A85613-F5C8-41E0-83E9-48AB9A7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8B5926E2-716A-423D-818D-722A072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F3A5783C-D912-49DD-9960-D2746F4E6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Documents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9805F051-D075-4C2C-9FB3-898BEBBA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76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rmarkdown, knitr, gt, xml2, zip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2768806-AA37-4A51-B760-FEFEC0CF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25908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CF561D1A-F56C-4674-B8C6-E420DC956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931920"/>
            <a:ext cx="54864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87E25F2-FD7A-423A-89FC-71105916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041648"/>
            <a:ext cx="2316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(optional)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B0BC33A4-ADBB-41F0-ABC3-860A18C01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1448" y="4315968"/>
            <a:ext cx="2316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httr, jsonlite, base64enc</a:t>
            </a:r>
          </a:p>
        </p:txBody>
      </p:sp>
    </p:spTree>
    <p:extLst>
      <p:ext uri="{BB962C8B-B14F-4D97-AF65-F5344CB8AC3E}">
        <p14:creationId xmlns:p14="http://schemas.microsoft.com/office/powerpoint/2010/main" val="7379052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13ECC74-7841-4733-B6BE-FA8C0F8D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0939651-E103-4C42-80B1-772EA3AE8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53A0BED-3678-49ED-9CE4-742E4166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SETUP  ·  STEP 4 OF 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15535A-36CC-4EE7-9AE0-BBF37775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DE961AC-AAB9-4B33-B229-C5C935F1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9B2D581-95ED-4C0B-813C-E6CAA4E1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2DF2588-134E-450D-B2FE-93CE2588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6C30989-EEA0-4EAE-B468-AA5EE355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Windows: double-click a .bat launcher. macOS: double-click a .command launcher; if blocked on first launch, Control-click it and choose Open. Linux: run it with bash. Ports: 7788 wizard, 7777 dashboard.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4EB1DAA-16A3-41C9-A660-A9983280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A136B662-E487-4DC9-9601-A500A4BE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97AB321-C99F-46FE-BC71-6FF38C56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1828800"/>
            <a:ext cx="7882128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Windows: *.bat  ·  macOS: *.command  ·  Linux: bash *.command  (in Start_Here)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B8CB0C94-884B-408A-B0C6-062186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A7A4757-E774-47C3-8529-080E53AD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52503ae3044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20F2953-5D60-477A-AA85-D4559644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app opens</a:t>
            </a:r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AA721920-F814-47B5-81CA-82F5FADB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browser window shows the cover page.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7479973E-E121-48E0-973F-5AEF47A9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6103C69-F5B6-4681-B757-03CB2C50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97bfc7049473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2FC3257F-EC48-4E70-B42C-8DAFFDED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Click Get Started</a:t>
            </a:r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91FFBD53-2D15-46EB-A2B5-867E2F7A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You land on the main workspace.</a:t>
            </a:r>
          </a:p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25521568-8390-4D5C-939B-C75B0550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2590800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0">
            <a:extLst xmlns:a="http://schemas.openxmlformats.org/drawingml/2006/main">
              <a:ext uri="{FF2B5EF4-FFF2-40B4-BE49-F238E27FC236}">
                <a16:creationId xmlns:a16="http://schemas.microsoft.com/office/drawing/2014/main" id="{52D6CBA0-30B2-4CCC-8814-12AEEEDA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743200"/>
            <a:ext cx="54864" cy="1737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ff3e8039747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999232"/>
            <a:ext cx="384048" cy="384048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A564DD73-BDFD-4F6A-9038-1D3AA4A2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52044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Resources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946FA38-171A-4FA2-8E04-63B2543B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2133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the DOCX guideline note, this slide deck, sidebar Resources, and tooltips.</a:t>
            </a:r>
          </a:p>
        </p:txBody>
      </p:sp>
    </p:spTree>
    <p:extLst>
      <p:ext uri="{BB962C8B-B14F-4D97-AF65-F5344CB8AC3E}">
        <p14:creationId xmlns:p14="http://schemas.microsoft.com/office/powerpoint/2010/main" val="140745060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c874c37baa24ac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e0a3cfc1e41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ABC59E73-14FC-4B2A-BDFD-088765F5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02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E7C51D98-AE59-4EB7-9D80-8FAD97541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0D81BDB0-0100-4DAC-A041-2BE377C8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wizard,</a:t>
            </a:r>
          </a:p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step by step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E5A046D-D445-4CD2-9911-15335EF2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Six steps from data to run. The classic dashboard offers the same controls in one sidebar.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E5C4074-3F57-4ACA-AEDC-8308D69F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15 / 37</a:t>
            </a:r>
          </a:p>
        </p:txBody>
      </p:sp>
    </p:spTree>
    <p:extLst>
      <p:ext uri="{BB962C8B-B14F-4D97-AF65-F5344CB8AC3E}">
        <p14:creationId xmlns:p14="http://schemas.microsoft.com/office/powerpoint/2010/main" val="110440339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DASHBOARD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Start here — the cover page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first screen in both interfaces. Click Get Started to reveal the workspace.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ABB49EC-2E4B-4E41-BE83-5861BE459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651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472AA6CD-2144-4DFE-9AA6-81FED4E19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4937760" cy="2926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12700">
            <a:solidFill>
              <a:srgbClr val="EEF1F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9A23F856-57CC-45B5-88C0-B11A51CF0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700">
            <a:solidFill>
              <a:srgbClr val="E74C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3C47222D-89E1-4C99-A44F-C4780B85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C40F"/>
          </a:solidFill>
          <a:ln xmlns:a="http://schemas.openxmlformats.org/drawingml/2006/main" w="12700">
            <a:solidFill>
              <a:srgbClr val="F1C40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553E0A90-FA6F-457A-93D6-A1192772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416" y="1911096"/>
            <a:ext cx="128016" cy="12801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CC71"/>
          </a:solidFill>
          <a:ln xmlns:a="http://schemas.openxmlformats.org/drawingml/2006/main" w="12700">
            <a:solidFill>
              <a:srgbClr val="2ECC7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1DC4015-1014-4D05-A7AF-44D54B5B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1847088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7A8CAE"/>
                </a:solidFill>
                <a:latin typeface="Consolas"/>
                <a:ea typeface="Consolas"/>
                <a:cs typeface="Consolas"/>
              </a:rPr>
              <a:t>localhost:####</a:t>
            </a:r>
          </a:p>
        </p:txBody>
      </p:sp>
      <p:pic>
        <p:nvPicPr>
          <p:cNvPr id="4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6ea0ef86842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317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0900C281-2316-4EBB-8681-5BA9674E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331720"/>
            <a:ext cx="3840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EU SAE Package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43BE7C3-D251-47ED-9543-14CBA910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2697480"/>
            <a:ext cx="384048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Small Area Estimation of poverty rates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471DD7-F05F-4C9B-A0BC-FA2460C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F118CFD-A8B6-40D7-9206-41EFCB9A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246120"/>
            <a:ext cx="1737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Get Started  →</a:t>
            </a:r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629FE67E-4F91-4BA1-A480-F50E854F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794760"/>
            <a:ext cx="4206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Click to reveal the main workspace.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8FE301E1-A7E4-4D78-AF50-A71903D8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82880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you'll find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48DDF1AB-DE6C-4DEF-8980-440B0867F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9572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2860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Wizard: six steps on a clickable breadcrumb  ·  Dashboard: one sidebar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519313F-0031-48ED-BD9B-CAA0029F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80720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2C42185-2D48-4947-817E-BD0F08AC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69748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Data Readiness, then Run Analysis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15F1493-24A4-43E0-BABC-0CE658AD7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21868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1FE12AD-7121-4851-A775-2823D734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10896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Preflight - input validation (wizard: inside Step 6)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2C280DA-9F25-4C8A-A307-AF614764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363016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1B81064D-2E09-4CC1-86DC-F673F4DA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52044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Data Readiness - diagnostic checks (wizard: inside Step 6)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0F99BAC-A7A9-45EF-A00C-0EE0838E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4041648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CFE99F25-6EAC-41AF-8BB0-603AB3250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393192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Status - progress, run folder and output locations</a:t>
            </a:r>
          </a:p>
        </p:txBody>
      </p:sp>
    </p:spTree>
    <p:extLst>
      <p:ext uri="{BB962C8B-B14F-4D97-AF65-F5344CB8AC3E}">
        <p14:creationId xmlns:p14="http://schemas.microsoft.com/office/powerpoint/2010/main" val="9174056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The wizard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one of the six steps shares this layout. Step 1 shown.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115f723124f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47088"/>
            <a:ext cx="5669280" cy="2572436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2024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03120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you are, and what is still outstanding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374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Guidance banner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06624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what this step is for, in one line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12724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Form column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10128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inputs; help panels sit to the right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3075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Back / Next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13632"/>
            <a:ext cx="2240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move freely - nothing is locked</a:t>
            </a:r>
          </a:p>
        </p:txBody>
      </p:sp>
    </p:spTree>
    <p:extLst>
      <p:ext uri="{BB962C8B-B14F-4D97-AF65-F5344CB8AC3E}">
        <p14:creationId xmlns:p14="http://schemas.microsoft.com/office/powerpoint/2010/main" val="169252735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Three things to watch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parts of the screen that tell you whether the run will work.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47088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Breadcrumb - green is complete, amber has an outstanding item, blue is the current step. Clickable.</a:t>
            </a:r>
          </a:p>
        </p:txBody>
      </p:sp>
      <p:pic>
        <p:nvPicPr>
          <p:cNvPr id="41" name="Picture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e6e34a4554b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084832"/>
            <a:ext cx="6309360" cy="252374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38374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Validation - green confirms the step is satisfied; red lists what to check. Both can appear together.</a:t>
            </a:r>
          </a:p>
        </p:txBody>
      </p:sp>
      <p:pic>
        <p:nvPicPr>
          <p:cNvPr id="43" name="Picture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768b2e349f4d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2776118"/>
            <a:ext cx="6309360" cy="611219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88505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Navigation - Next stays available on an incomplete step. Only the run control in Step 6 is gated.</a:t>
            </a:r>
          </a:p>
        </p:txBody>
      </p:sp>
      <p:pic>
        <p:nvPicPr>
          <p:cNvPr id="45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a76cd1567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3826249"/>
            <a:ext cx="6309360" cy="2918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09690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1 — DATA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19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1 — Data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settings first, then the input files.</a:t>
            </a:r>
          </a:p>
        </p:txBody>
      </p:sp>
      <p:pic>
        <p:nvPicPr>
          <p:cNvPr id="42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237b16374d42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2651760" cy="2593965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92024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Analysis years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103120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two, comma-separated — each year is estimated, then the change is tested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48716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Country or territory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2670048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appears in the report and analysis-brief headers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5409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and run label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236976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seed 123 reproduces the run; the label names the archive folder under app_runs/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62102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Below the settings</a:t>
            </a:r>
          </a:p>
        </p:txBody>
      </p:sp>
      <p:sp>
        <p:nvSpPr>
          <p:cNvPr id="32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803904"/>
            <a:ext cx="50749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Browse to the survey, auxiliary and geometry files; a population file is optional</a:t>
            </a:r>
          </a:p>
        </p:txBody>
      </p:sp>
    </p:spTree>
    <p:extLst>
      <p:ext uri="{BB962C8B-B14F-4D97-AF65-F5344CB8AC3E}">
        <p14:creationId xmlns:p14="http://schemas.microsoft.com/office/powerpoint/2010/main" val="126406548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2 — MAPPING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20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2 — Variable mapping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Tell the app which column holds which variable.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3049e9be248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2387194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89146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Left: survey columns. Right: the join keys — the auxiliary and shapefile domain fields must hold the same domain IDs as the survey. A red field means the typed name is not in the selected dataset.</a:t>
            </a:r>
          </a:p>
        </p:txBody>
      </p:sp>
    </p:spTree>
    <p:extLst>
      <p:ext uri="{BB962C8B-B14F-4D97-AF65-F5344CB8AC3E}">
        <p14:creationId xmlns:p14="http://schemas.microsoft.com/office/powerpoint/2010/main" val="10693410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3 — INDICATOR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3 — Indicator definition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what is being modelled; the help panel updates with each choice.</a:t>
            </a:r>
          </a:p>
        </p:txBody>
      </p:sp>
      <p:pic>
        <p:nvPicPr>
          <p:cNvPr id="34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1b038f3a1344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" y="1810512"/>
            <a:ext cx="8138160" cy="1931457"/>
          </a:xfrm>
          <a:prstGeom xmlns:a="http://schemas.openxmlformats.org/drawingml/2006/main" prst="rect">
            <a:avLst/>
          </a:prstGeom>
        </p:spPr>
      </p:pic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33409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Poverty (FGT) needs a welfare variable and a poverty line — a column in the data or a numeric value — and produces FGT(0) headcount, FGT(1) gap or FGT(2) severity. Mean welfare models the weighted mean directly and hides the poverty-line inputs.</a:t>
            </a:r>
          </a:p>
        </p:txBody>
      </p:sp>
    </p:spTree>
    <p:extLst>
      <p:ext uri="{BB962C8B-B14F-4D97-AF65-F5344CB8AC3E}">
        <p14:creationId xmlns:p14="http://schemas.microsoft.com/office/powerpoint/2010/main" val="130360664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EF765A-7DE3-448A-B44E-EB47FA23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8D1EEC8-C22F-4630-AE17-BECD07C1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0BD8D64-E90E-4267-9EA5-BAC139EF2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71EA83C-E9DE-4B05-9484-D499EB513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F4E492-6445-4975-A1A8-212FDA01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7D531E-AAC4-43F9-A698-4234A03F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UFH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1B174BBA-2212-4935-8353-63FC888B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828800"/>
          <a:ext xmlns:a="http://schemas.openxmlformats.org/drawingml/2006/main" cx="5394960" cy="24688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Transformation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arcsin (default) / no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Keeps estimates between 0 and 1; stabilizes variance.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Bias correction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bc (default) / none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Adjusts for non-linearity of the arcsin transform.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BIC (default) / AIC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stepwise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5A80091E-DEF8-4996-9900-A56A02EE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48056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8"/>
          </a:solidFill>
          <a:ln xmlns:a="http://schemas.openxmlformats.org/drawingml/2006/main" w="9525">
            <a:solidFill>
              <a:srgbClr val="F2D58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2a5d95285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5371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8729A578-579C-47CC-A489-A42F3E26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8056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Rule of thumb  </a:t>
            </a: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Keep LASSO off for replication; turn it on only to screen large candidate sets.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ae0a9288f742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35040" y="1828800"/>
            <a:ext cx="2606040" cy="2231024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579F3A68-3B69-457F-BE98-14310841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4114688"/>
            <a:ext cx="26060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</a:t>
            </a:r>
          </a:p>
        </p:txBody>
      </p:sp>
    </p:spTree>
    <p:extLst>
      <p:ext uri="{BB962C8B-B14F-4D97-AF65-F5344CB8AC3E}">
        <p14:creationId xmlns:p14="http://schemas.microsoft.com/office/powerpoint/2010/main" val="198779013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3611ADC-A618-4A8F-B949-08E23298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0A63739-4277-4231-85C5-3CC359145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3FD1823-D2AD-4CCE-9E8C-A763E98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57B515D-5957-4FC8-85E7-D3C3762E7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8E5CAB8-9E97-4E4B-AFFD-F2268331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B3D017E-F52A-41E8-B9E6-BB74E8C20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 options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615743A-7A42-4725-8117-75BA24F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MFH: with LASSO on, year-specific lists are candidate pools; with LASSO off, they are fixed specifications.</a:t>
            </a:r>
          </a:p>
        </p:txBody>
      </p:sp>
      <p:graphicFrame>
        <p:nvGraphicFramePr>
          <p:cNvPr id="29" name="Table 0"/>
          <p:cNvGraphicFramePr/>
          <p:nvPr/>
        </p:nvGraphicFramePr>
        <p:xfrm>
          <a:off xmlns:a="http://schemas.openxmlformats.org/drawingml/2006/main" x="502920" y="1600200"/>
          <a:ext xmlns:a="http://schemas.openxmlformats.org/drawingml/2006/main" cx="5394960" cy="268128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12350"/>
                <a:gridCol w="2060995"/>
                <a:gridCol w="2121615"/>
              </a:tblGrid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Values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</a:rPr>
                        <a:t>What it does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15284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Model selection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AIC (default) / BIC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Criterion for covariate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sm_out / sm_all / direct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sm_out replaces missing/non-finite or &lt; 0.001 values.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Covariance option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auto-matched to variance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How cross-year covariance is set.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Selected MFH model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MFH2 / MFH1 /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Which MFH model is exported and reported.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Try MFH3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checkbox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Heteroskedastic AR(1); slower but more flexible.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83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0F1E3F"/>
                          </a:solidFill>
                          <a:latin typeface="Calibri"/>
                          <a:ea typeface="Calibri"/>
                          <a:cs typeface="Calibri"/>
                        </a:rPr>
                        <a:t>LASSO screening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 b="1">
                          <a:solidFill>
                            <a:srgbClr val="15284F"/>
                          </a:solidFill>
                          <a:latin typeface="Consolas"/>
                          <a:ea typeface="Consolas"/>
                          <a:cs typeface="Consolas"/>
                        </a:rPr>
                        <a:t>off (default) / on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sz="900">
                          <a:solidFill>
                            <a:srgbClr val="43578A"/>
                          </a:solidFill>
                          <a:latin typeface="Calibri"/>
                          <a:ea typeface="Calibri"/>
                          <a:cs typeface="Calibri"/>
                        </a:rPr>
                        <a:t>Optional screen before AIC/BIC stepwise selection.</a:t>
                      </a:r>
                    </a:p>
                  </a:txBody>
                  <a:tcPr marL="54864" marR="54864" marT="91440" marB="91440" anchor="ctr">
                    <a:lnL w="6350" cmpd="sng">
                      <a:solidFill>
                        <a:srgbClr val="DCE4F0"/>
                      </a:solidFill>
                      <a:prstDash val="solid"/>
                    </a:lnL>
                    <a:lnR w="6350" cmpd="sng">
                      <a:solidFill>
                        <a:srgbClr val="DCE4F0"/>
                      </a:solidFill>
                      <a:prstDash val="solid"/>
                    </a:lnR>
                    <a:lnT w="6350" cmpd="sng">
                      <a:solidFill>
                        <a:srgbClr val="DCE4F0"/>
                      </a:solidFill>
                      <a:prstDash val="solid"/>
                    </a:lnT>
                    <a:lnB w="6350" cmpd="sng">
                      <a:solidFill>
                        <a:srgbClr val="DCE4F0"/>
                      </a:solidFill>
                      <a:prstDash val="solid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83891BB-E8BF-4BE4-9F8E-02171D8D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52628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3300fae7d4a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59943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1528353-5543-4CD3-ABBE-95E48E18D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52628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MFH2 is the default. MFH3 falls back to MFH2 on error or non-convergence, and is kept only if its variance test supports it. MFH1 is a manual sensitivity option.</a:t>
            </a:r>
          </a:p>
        </p:txBody>
      </p:sp>
      <p:pic>
        <p:nvPicPr>
          <p:cNvPr id="33" name="Picture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9a88ffb994c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6480" y="1828800"/>
            <a:ext cx="2377440" cy="2377440"/>
          </a:xfrm>
          <a:prstGeom xmlns:a="http://schemas.openxmlformats.org/drawingml/2006/main" prst="rect">
            <a:avLst/>
          </a:prstGeom>
        </p:spPr>
      </p:pic>
      <p:sp>
        <p:nvSpPr>
          <p:cNvPr id="17" name="Text 4">
            <a:extLst xmlns:a="http://schemas.openxmlformats.org/drawingml/2006/main">
              <a:ext uri="{FF2B5EF4-FFF2-40B4-BE49-F238E27FC236}">
                <a16:creationId xmlns:a16="http://schemas.microsoft.com/office/drawing/2014/main" id="{063AFC14-044C-4B3D-9941-F68F4714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4261104"/>
            <a:ext cx="23774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Wizard Step 4 - Models (MFH-specific controls)</a:t>
            </a:r>
          </a:p>
        </p:txBody>
      </p:sp>
    </p:spTree>
    <p:extLst>
      <p:ext uri="{BB962C8B-B14F-4D97-AF65-F5344CB8AC3E}">
        <p14:creationId xmlns:p14="http://schemas.microsoft.com/office/powerpoint/2010/main" val="56145697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5BBE8F0-7181-441F-8B13-D4115D0BB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E6D361D-58B6-4CB5-B759-6B01E18E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6C99825-117C-4F3D-83B4-78600CA7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4 — MODELS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B7CA679-259D-47C0-A8F2-5CF42777E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8F6485B-9CEF-47E2-9C29-D4C903F8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81454CF-B64F-4B0E-B34E-6881C80A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6B99C6A-3B12-4E2B-B95E-3934DE63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Benchmarking option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4EB957F-60D1-4728-96DF-B4723BDB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If a boundary fit cannot be benchmarked, the report states why and continues with unbenchmarked estimates.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F43515E-E25D-4B4F-9783-4DB2B88B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9C9FB522-C813-4EBE-A736-797A6B468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B882A850-FAA8-4C74-9A22-9A1EFCF1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1</a:t>
            </a:r>
          </a:p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0723eddf3248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3C819348-E72F-4DDB-9092-F8126914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Apply benchmarking</a:t>
            </a: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9CF037B-1ED4-4EC0-AF44-C7B16441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Apply benchmarking. The Benchmarking level control and optional target database then appear.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967A90FA-0307-48D4-8714-4BAE370C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95E42C6-9700-4E01-916E-0C43AF95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9E67AE2-E2C3-432C-87E0-55CBB275E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2</a:t>
            </a:r>
          </a:p>
        </p:txBody>
      </p:sp>
      <p:pic>
        <p:nvPicPr>
          <p:cNvPr id="4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4f15b969741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0" name="Text 16">
            <a:extLst xmlns:a="http://schemas.openxmlformats.org/drawingml/2006/main">
              <a:ext uri="{FF2B5EF4-FFF2-40B4-BE49-F238E27FC236}">
                <a16:creationId xmlns:a16="http://schemas.microsoft.com/office/drawing/2014/main" id="{C321CB95-2108-44E7-874B-6832025A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528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Target Database</a:t>
            </a:r>
          </a:p>
        </p:txBody>
      </p:sp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987DEC79-7D45-49D3-8433-8FBBB6A7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Optional targets by year and group. If selected by mistake, click Clear selected file. If omitted, targets come from survey direct estimates.</a:t>
            </a:r>
          </a:p>
        </p:txBody>
      </p:sp>
      <p:sp>
        <p:nvSpPr>
          <p:cNvPr id="22" name="Shape 18">
            <a:extLst xmlns:a="http://schemas.openxmlformats.org/drawingml/2006/main">
              <a:ext uri="{FF2B5EF4-FFF2-40B4-BE49-F238E27FC236}">
                <a16:creationId xmlns:a16="http://schemas.microsoft.com/office/drawing/2014/main" id="{AE638235-375E-471F-8190-7FF6774E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19">
            <a:extLst xmlns:a="http://schemas.openxmlformats.org/drawingml/2006/main">
              <a:ext uri="{FF2B5EF4-FFF2-40B4-BE49-F238E27FC236}">
                <a16:creationId xmlns:a16="http://schemas.microsoft.com/office/drawing/2014/main" id="{719AA98D-F679-4648-AFF7-694B01B9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0">
            <a:extLst xmlns:a="http://schemas.openxmlformats.org/drawingml/2006/main">
              <a:ext uri="{FF2B5EF4-FFF2-40B4-BE49-F238E27FC236}">
                <a16:creationId xmlns:a16="http://schemas.microsoft.com/office/drawing/2014/main" id="{099C10A2-A81B-4B2D-8F5E-E81F4BFCF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01952"/>
            <a:ext cx="2133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4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OPTION 3</a:t>
            </a:r>
          </a:p>
        </p:txBody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2b089369e645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487168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6B2DAC72-6E19-4902-A97D-A475C3A4C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8960" y="2542032"/>
            <a:ext cx="1584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Benchmark level</a:t>
            </a:r>
          </a:p>
        </p:txBody>
      </p:sp>
      <p:sp>
        <p:nvSpPr>
          <p:cNvPr id="27" name="Text 22">
            <a:extLst xmlns:a="http://schemas.openxmlformats.org/drawingml/2006/main">
              <a:ext uri="{FF2B5EF4-FFF2-40B4-BE49-F238E27FC236}">
                <a16:creationId xmlns:a16="http://schemas.microsoft.com/office/drawing/2014/main" id="{2C37B7FB-E60E-4D4F-827E-34B1E0359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00400"/>
            <a:ext cx="21336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Choose National to match the population-weighted domain estimates to the direct national target. Choose Grouped, then map region, NUTS2, or another higher-level survey variable.</a:t>
            </a:r>
          </a:p>
        </p:txBody>
      </p:sp>
    </p:spTree>
    <p:extLst>
      <p:ext uri="{BB962C8B-B14F-4D97-AF65-F5344CB8AC3E}">
        <p14:creationId xmlns:p14="http://schemas.microsoft.com/office/powerpoint/2010/main" val="386316415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BF07A51-5FAC-428A-9944-37386E03D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0612F72-4405-4C55-A024-46C9A3DFB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391927-137D-4ED4-883B-209D2CF09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5 — 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3030DF6-E697-4DE8-A713-84F643081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5BF1B7C-455C-4E96-A919-D825C53B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B0D248-51C6-4FB6-BA1B-2D3DE83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5E307F4-1722-4066-A14E-F84D9B14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Step 5 — AI Assistant (optional)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9B39BDF-AFCF-4E01-AB48-1E8BB896C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Off by default. Nothing is sent anywhere unless you opt in here.</a:t>
            </a:r>
          </a:p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92024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Two controls before any key</a:t>
            </a:r>
          </a:p>
        </p:txBody>
      </p:sp>
      <p:sp>
        <p:nvSpPr>
          <p:cNvPr id="25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031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enable the assistant AND acknowledge the external transfer; only then paste an approved provider or gateway key</a:t>
            </a:r>
          </a:p>
        </p:txBody>
      </p:sp>
      <p:sp>
        <p:nvSpPr>
          <p:cNvPr id="26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56032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7432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text comes back in the language you pick — 25 options</a:t>
            </a:r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040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Where it lands</a:t>
            </a:r>
          </a:p>
        </p:txBody>
      </p:sp>
      <p:sp>
        <p:nvSpPr>
          <p:cNvPr id="29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labelled blocks in both HTML and Word reports; status is saved in outputs/data/ai_interpretations.rds</a:t>
            </a:r>
          </a:p>
        </p:txBody>
      </p:sp>
      <p:sp>
        <p:nvSpPr>
          <p:cNvPr id="30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Keys and providers</a:t>
            </a:r>
          </a:p>
        </p:txBody>
      </p:sp>
      <p:sp>
        <p:nvSpPr>
          <p:cNvPr id="31" name="Text 21">
            <a:extLst xmlns:a="http://schemas.openxmlformats.org/drawingml/2006/main">
              <a:ext uri="{FF2B5EF4-FFF2-40B4-BE49-F238E27FC236}">
                <a16:creationId xmlns:a16="http://schemas.microsoft.com/office/drawing/2014/main" id="{585128BD-ECD2-4821-ACAF-5D705503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81381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see Part 03 of this guide; keys are never stored on disk</a:t>
            </a:r>
          </a:p>
        </p:txBody>
      </p:sp>
    </p:spTree>
    <p:extLst>
      <p:ext uri="{BB962C8B-B14F-4D97-AF65-F5344CB8AC3E}">
        <p14:creationId xmlns:p14="http://schemas.microsoft.com/office/powerpoint/2010/main" val="186496799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0D31447-3DE9-4BA0-8A44-E8314CAA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54864" cy="274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AFBBF01-0994-4027-8B81-A7CB1233C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" y="365760"/>
            <a:ext cx="4572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829AAB-75F5-4F9B-8051-9308DAA72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81381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800" b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Two-stage launch — check, then run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64B3C99-7E93-40FB-99DC-35FEBB634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07008"/>
            <a:ext cx="81381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Review your data before the pipeline starts. Catch typos, missing years, and mapping issues early.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34B7412-B0B5-4075-BABF-250B0AB85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27632"/>
            <a:ext cx="3657600" cy="24688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B275B1-CAE3-4C5F-8FAC-28C166FB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73936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43578A"/>
                </a:solidFill>
                <a:latin typeface="Georgia"/>
                <a:ea typeface="Georgia"/>
                <a:cs typeface="Georgia"/>
              </a:rPr>
              <a:t>Wizard Step 6  ·  Dashboard sidebar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C8160E83-E19C-41F2-AE7B-21A8DE897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084832"/>
            <a:ext cx="2468880" cy="960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7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DBE4635A-48D1-4543-8A82-CDCCB9A2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99664B4-DF5E-48B3-8EA5-F5A832BD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221992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14197F1-1E02-4E4E-9E06-7A8F1888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D6FA0"/>
          </a:solidFill>
          <a:ln xmlns:a="http://schemas.openxmlformats.org/drawingml/2006/main" w="12700">
            <a:solidFill>
              <a:srgbClr val="4D6FA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D5325C0-B705-4F7A-ACBF-D4C0A090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615184"/>
            <a:ext cx="210312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DB79C17-8BBF-4074-8F46-03C058FA4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136392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1 — review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72685F-A5CE-4285-B73F-9B49E726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83280"/>
            <a:ext cx="36576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Stage 2 — run the pipeline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87158755-E9BC-4503-BFFE-3867AC1E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B"/>
          </a:solidFill>
          <a:ln xmlns:a="http://schemas.openxmlformats.org/drawingml/2006/main" w="12700">
            <a:solidFill>
              <a:srgbClr val="F4F6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F7EB2FF-580F-48E0-B666-89BF14C89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12464"/>
            <a:ext cx="365760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i="1">
                <a:solidFill>
                  <a:srgbClr val="0F1E3F"/>
                </a:solidFill>
                <a:latin typeface="Georgia"/>
                <a:ea typeface="Georgia"/>
                <a:cs typeface="Georgia"/>
              </a:rPr>
              <a:t>Click 1, review, then click 2.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42415BC-7098-4BD2-89AA-FDCB4676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87752"/>
            <a:ext cx="365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600" b="1">
                <a:solidFill>
                  <a:srgbClr val="2EB87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F8FF2E12-3B41-40BB-8143-E3DEAF699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CF5FE68-66B2-4E0D-A834-D2DED40B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1627632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79BC0EF-1FC8-4DBD-B4B0-4EFFE0E2A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1792224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20599922564b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1892808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547AAB8-06F8-4258-A94F-AA8AE92E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1792224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1. Check Data Readiness</a:t>
            </a:r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67E39A45-2A56-4F9D-BC2A-4A8C3340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2157984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Loads inputs, validates variables, checks requested years and mappings, and populates the Preflight and Data Readiness tabs - no modelling yet.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65AFB442-0472-4855-8F0E-DE2A7D56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402336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301EE81A-CA5C-49D5-B35D-5827815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35224"/>
            <a:ext cx="91440" cy="1161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A0A26D1-AE4E-4574-90B0-4E69496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3099816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234d8e4534f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74336" y="3200400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8" name="Text 24">
            <a:extLst xmlns:a="http://schemas.openxmlformats.org/drawingml/2006/main">
              <a:ext uri="{FF2B5EF4-FFF2-40B4-BE49-F238E27FC236}">
                <a16:creationId xmlns:a16="http://schemas.microsoft.com/office/drawing/2014/main" id="{8DD1857C-522B-4BEC-9A50-7E7D514A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099816"/>
            <a:ext cx="30632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2. Run Analysis</a:t>
            </a:r>
          </a:p>
        </p:txBody>
      </p:sp>
      <p:sp>
        <p:nvSpPr>
          <p:cNvPr id="29" name="Text 25">
            <a:extLst xmlns:a="http://schemas.openxmlformats.org/drawingml/2006/main">
              <a:ext uri="{FF2B5EF4-FFF2-40B4-BE49-F238E27FC236}">
                <a16:creationId xmlns:a16="http://schemas.microsoft.com/office/drawing/2014/main" id="{F42A7B8D-F5CC-4E95-B90A-21FF72FD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0680" y="3465576"/>
            <a:ext cx="306324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Unlocks only after step 1. Runs the selected steps, writes current files to outputs/, and saves an archived copy in app_runs/&lt;timestamp&gt;_&lt;run_label&gt;/outputs.</a:t>
            </a:r>
          </a:p>
        </p:txBody>
      </p:sp>
      <p:sp>
        <p:nvSpPr>
          <p:cNvPr id="30" name="Shape 26">
            <a:extLst xmlns:a="http://schemas.openxmlformats.org/drawingml/2006/main">
              <a:ext uri="{FF2B5EF4-FFF2-40B4-BE49-F238E27FC236}">
                <a16:creationId xmlns:a16="http://schemas.microsoft.com/office/drawing/2014/main" id="{FFD6ADBA-7486-4941-8820-AEF88F4BD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224528"/>
            <a:ext cx="8138160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1FA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7">
            <a:extLst xmlns:a="http://schemas.openxmlformats.org/drawingml/2006/main">
              <a:ext uri="{FF2B5EF4-FFF2-40B4-BE49-F238E27FC236}">
                <a16:creationId xmlns:a16="http://schemas.microsoft.com/office/drawing/2014/main" id="{6DA91574-9F76-470F-96F8-8E6A642C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4224528"/>
            <a:ext cx="780897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5284F"/>
                </a:solidFill>
                <a:latin typeface="Calibri"/>
                <a:ea typeface="Calibri"/>
                <a:cs typeface="Calibri"/>
              </a:rPr>
              <a:t>Why two stages?  </a:t>
            </a: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You see what the app sees before committing to a long run - catch typos, missing domains, missing household size, or unexpected years early.</a:t>
            </a:r>
          </a:p>
        </p:txBody>
      </p:sp>
      <p:sp>
        <p:nvSpPr>
          <p:cNvPr id="32" name="Text 28">
            <a:extLst xmlns:a="http://schemas.openxmlformats.org/drawingml/2006/main">
              <a:ext uri="{FF2B5EF4-FFF2-40B4-BE49-F238E27FC236}">
                <a16:creationId xmlns:a16="http://schemas.microsoft.com/office/drawing/2014/main" id="{51BD9D2C-0A00-4738-900F-899EED75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6592"/>
            <a:ext cx="45720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33" name="Text 29">
            <a:extLst xmlns:a="http://schemas.openxmlformats.org/drawingml/2006/main">
              <a:ext uri="{FF2B5EF4-FFF2-40B4-BE49-F238E27FC236}">
                <a16:creationId xmlns:a16="http://schemas.microsoft.com/office/drawing/2014/main" id="{92AFC506-73BC-467B-84E2-B3575E44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36592"/>
            <a:ext cx="9601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26 / 37</a:t>
            </a:r>
          </a:p>
        </p:txBody>
      </p:sp>
      <p:sp>
        <p:nvSpPr>
          <p:cNvPr id="34" name="Shape 30">
            <a:extLst xmlns:a="http://schemas.openxmlformats.org/drawingml/2006/main">
              <a:ext uri="{FF2B5EF4-FFF2-40B4-BE49-F238E27FC236}">
                <a16:creationId xmlns:a16="http://schemas.microsoft.com/office/drawing/2014/main" id="{89077BFE-3525-485E-815B-06CA86A5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97196"/>
            <a:ext cx="9144000" cy="1463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98639574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09DFAB-3A8C-4AAC-ADC8-CC46597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8755F3B-21C9-45F3-9376-C13ADEB15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39F7C99-0248-4FBA-8230-96CA2F02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09C531-2D1F-490C-8F93-B12C3974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B930C5C-2231-4CA7-A41B-D5BDE8EB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3446CB-ADAA-4AA1-AFA1-13B5FB1F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27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4AA15F1-CBF8-439E-8D5F-059A3E2CA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Preflight tab — inputs at a glance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67420A6-0027-4CA6-B8C1-91397930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Shown after Check Data Readiness. Confirms the app understood your inputs.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7664411-E751-401B-9FA0-9A4588D6A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193852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91A0C1AC-9170-4F09-8B29-6F1E58E5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84708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Analysis years parsed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9C06A0F-F869-4B1B-9C88-D5390EAE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05740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2012, 2013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28C0D4B9-B4DC-4390-98F7-E82FE556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248716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E656E2D7-20BA-4FFC-816C-20ADC6120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9572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Variable mapping complete</a:t>
            </a:r>
          </a:p>
        </p:txBody>
      </p:sp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701DCED1-595F-4CB8-8A01-72A6E44E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60604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year, domain, psu, weight, hhsize, welfare</a:t>
            </a:r>
          </a:p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06C53EBE-9A0D-443E-8894-4A2BEE94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92608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03580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CF0637C1-A11C-4091-9A86-5A96A9E1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94436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Poverty line set</a:t>
            </a:r>
          </a:p>
        </p:txBody>
      </p:sp>
      <p:sp>
        <p:nvSpPr>
          <p:cNvPr id="21" name="Text 16">
            <a:extLst xmlns:a="http://schemas.openxmlformats.org/drawingml/2006/main">
              <a:ext uri="{FF2B5EF4-FFF2-40B4-BE49-F238E27FC236}">
                <a16:creationId xmlns:a16="http://schemas.microsoft.com/office/drawing/2014/main" id="{58B4CFF7-0493-45BB-BA1D-39F86D31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15468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type = relative, value = 0.60</a:t>
            </a:r>
          </a:p>
        </p:txBody>
      </p:sp>
      <p:sp>
        <p:nvSpPr>
          <p:cNvPr id="22" name="Shape 17">
            <a:extLst xmlns:a="http://schemas.openxmlformats.org/drawingml/2006/main">
              <a:ext uri="{FF2B5EF4-FFF2-40B4-BE49-F238E27FC236}">
                <a16:creationId xmlns:a16="http://schemas.microsoft.com/office/drawing/2014/main" id="{DA14284F-D3C3-4168-AC9C-AE5C1305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7ad5e4ba44a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358444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5E9ACA2C-9E75-4249-B651-6BEEA0E2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49300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Survey file loaded</a:t>
            </a:r>
          </a:p>
        </p:txBody>
      </p:sp>
      <p:sp>
        <p:nvSpPr>
          <p:cNvPr id="25" name="Text 19">
            <a:extLst xmlns:a="http://schemas.openxmlformats.org/drawingml/2006/main">
              <a:ext uri="{FF2B5EF4-FFF2-40B4-BE49-F238E27FC236}">
                <a16:creationId xmlns:a16="http://schemas.microsoft.com/office/drawing/2014/main" id="{BDF3D1EB-1920-4000-8185-FA5E661E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70332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selected survey file (RDS/CSV/DAT/Stata/SPSS/SAS/Parquet/Excel)</a:t>
            </a:r>
          </a:p>
        </p:txBody>
      </p:sp>
      <p:sp>
        <p:nvSpPr>
          <p:cNvPr id="26" name="Shape 20">
            <a:extLst xmlns:a="http://schemas.openxmlformats.org/drawingml/2006/main">
              <a:ext uri="{FF2B5EF4-FFF2-40B4-BE49-F238E27FC236}">
                <a16:creationId xmlns:a16="http://schemas.microsoft.com/office/drawing/2014/main" id="{D08DBAE5-1C0D-472E-BF52-4B90A13D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023360"/>
            <a:ext cx="5486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9c24d5723645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7512" y="4133088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6644C196-0E3D-468B-A141-782E7DB24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041648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file missing</a:t>
            </a:r>
          </a:p>
        </p:txBody>
      </p:sp>
      <p:sp>
        <p:nvSpPr>
          <p:cNvPr id="29" name="Text 22">
            <a:extLst xmlns:a="http://schemas.openxmlformats.org/drawingml/2006/main">
              <a:ext uri="{FF2B5EF4-FFF2-40B4-BE49-F238E27FC236}">
                <a16:creationId xmlns:a16="http://schemas.microsoft.com/office/drawing/2014/main" id="{5D09CD26-1B44-48B2-BD9F-152FB52BB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51960"/>
            <a:ext cx="49377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onsolas"/>
                <a:ea typeface="Consolas"/>
                <a:cs typeface="Consolas"/>
              </a:rPr>
              <a:t>choose ESRI .zip (valid .shp/.shx/.dbf), .rds, .gpkg, or GeoJSON</a:t>
            </a:r>
          </a:p>
        </p:txBody>
      </p:sp>
      <p:sp>
        <p:nvSpPr>
          <p:cNvPr id="30" name="Shape 23">
            <a:extLst xmlns:a="http://schemas.openxmlformats.org/drawingml/2006/main">
              <a:ext uri="{FF2B5EF4-FFF2-40B4-BE49-F238E27FC236}">
                <a16:creationId xmlns:a16="http://schemas.microsoft.com/office/drawing/2014/main" id="{D330164F-00C7-4099-B6D6-7C01E9F40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4">
            <a:extLst xmlns:a="http://schemas.openxmlformats.org/drawingml/2006/main">
              <a:ext uri="{FF2B5EF4-FFF2-40B4-BE49-F238E27FC236}">
                <a16:creationId xmlns:a16="http://schemas.microsoft.com/office/drawing/2014/main" id="{EC2C2B84-A62F-4B4E-8B42-EBF6A93B3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01168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What to look for</a:t>
            </a:r>
          </a:p>
        </p:txBody>
      </p:sp>
      <p:sp>
        <p:nvSpPr>
          <p:cNvPr id="32" name="Shape 25">
            <a:extLst xmlns:a="http://schemas.openxmlformats.org/drawingml/2006/main">
              <a:ext uri="{FF2B5EF4-FFF2-40B4-BE49-F238E27FC236}">
                <a16:creationId xmlns:a16="http://schemas.microsoft.com/office/drawing/2014/main" id="{D20D1549-7864-4AC0-85FF-3B527F3E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441448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4"/>
          </a:solidFill>
          <a:ln xmlns:a="http://schemas.openxmlformats.org/drawingml/2006/main" w="12700">
            <a:solidFill>
              <a:srgbClr val="2E7D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B7022694-5218-44F0-AA13-C02D47ECB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331720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Green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parsed correctly</a:t>
            </a:r>
          </a:p>
        </p:txBody>
      </p:sp>
      <p:sp>
        <p:nvSpPr>
          <p:cNvPr id="34" name="Shape 27">
            <a:extLst xmlns:a="http://schemas.openxmlformats.org/drawingml/2006/main">
              <a:ext uri="{FF2B5EF4-FFF2-40B4-BE49-F238E27FC236}">
                <a16:creationId xmlns:a16="http://schemas.microsoft.com/office/drawing/2014/main" id="{E128B035-3244-486C-A5B9-5CB652A2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862072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23C"/>
          </a:solidFill>
          <a:ln xmlns:a="http://schemas.openxmlformats.org/drawingml/2006/main" w="12700">
            <a:solidFill>
              <a:srgbClr val="E6A23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28">
            <a:extLst xmlns:a="http://schemas.openxmlformats.org/drawingml/2006/main">
              <a:ext uri="{FF2B5EF4-FFF2-40B4-BE49-F238E27FC236}">
                <a16:creationId xmlns:a16="http://schemas.microsoft.com/office/drawing/2014/main" id="{824D904C-7789-46D3-8990-B8DAEA1B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275234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Amber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 fallback is being used</a:t>
            </a:r>
          </a:p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4DE96001-6889-40C2-8B2F-B46E2FCA1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282696"/>
            <a:ext cx="164592" cy="1645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392B"/>
          </a:solidFill>
          <a:ln xmlns:a="http://schemas.openxmlformats.org/drawingml/2006/main" w="12700">
            <a:solidFill>
              <a:srgbClr val="C039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0">
            <a:extLst xmlns:a="http://schemas.openxmlformats.org/drawingml/2006/main">
              <a:ext uri="{FF2B5EF4-FFF2-40B4-BE49-F238E27FC236}">
                <a16:creationId xmlns:a16="http://schemas.microsoft.com/office/drawing/2014/main" id="{F1170784-D5AE-44B6-B318-258B6101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3172968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Red  </a:t>
            </a: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blocking error — fix and re-run</a:t>
            </a:r>
          </a:p>
        </p:txBody>
      </p:sp>
      <p:sp>
        <p:nvSpPr>
          <p:cNvPr id="38" name="Text 31">
            <a:extLst xmlns:a="http://schemas.openxmlformats.org/drawingml/2006/main">
              <a:ext uri="{FF2B5EF4-FFF2-40B4-BE49-F238E27FC236}">
                <a16:creationId xmlns:a16="http://schemas.microsoft.com/office/drawing/2014/main" id="{1A2A80B8-6468-49F7-B67C-5E5478C7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611880"/>
            <a:ext cx="1874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i="1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Preflight is cheap — re-running it is a safe way to iterate on variable mappings.</a:t>
            </a:r>
          </a:p>
        </p:txBody>
      </p:sp>
    </p:spTree>
    <p:extLst>
      <p:ext uri="{BB962C8B-B14F-4D97-AF65-F5344CB8AC3E}">
        <p14:creationId xmlns:p14="http://schemas.microsoft.com/office/powerpoint/2010/main" val="213829071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4933539-FD75-40EA-A6B5-481C235A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C54616-031B-412A-93A6-FD4CC9BBD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434FF79-BF50-4E7C-AE8F-8CCD192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WIZARD  ·  STEP 6 — REVIEW &amp; RUN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689AAF4-266C-4753-8789-AC3D685A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3162475-1E2C-4390-A5EA-1DFDCE29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82EC8ED-7009-4502-AAA0-4FEA6DB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28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7571382-CF83-43B0-A85C-A46DEE85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Readiness - diagnostics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77876416-0525-4B60-9B9D-6C6DBFEB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Populated when you click Check Data Readiness. Review warnings and errors before Run Analysis.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FC6B19D-6E90-43BA-8F77-F33754C9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56B7600A-36BD-465C-9D78-7BC3E2E7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6DBEF2D-CB07-41F6-BD90-B38F4E83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F0441F5-7133-41BA-92F3-24E51C73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Year variable present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48E085-E7B9-4A07-94C5-C747ACFD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datasets include a year column.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40E331B-2752-4AC7-80D6-C2C0C690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4ED0097C-4314-4BB4-A222-EEBA4A6A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F280863-488A-460C-9637-33F627F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0E75924-6A85-4F4A-B7C5-31FBBC5C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Requested years available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CB9F4C6-06E4-4038-A1CC-10EC986B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Survey and auxiliary data include the two requested years.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E973F3E3-E31D-4514-84FD-1F286AE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C940F5C-9D3D-4624-BCCF-74DE409D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B231170E-F148-4BC8-BC24-765D6712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196596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1EAE44B9-A528-49B3-9781-130A4F4A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33172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Covariate summary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E339D676-2A30-4C73-8669-73E542BE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267004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Means, SEs, correlation for selected years.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35DE3103-005A-4147-B845-86222CBD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AADAAE8-9FCE-4235-9030-2385425C4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7C32D14-6685-4A09-8E79-63682DC7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F0D3FDC2-2785-476C-93FB-48E1AEA3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Domain/key alignment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5E887FA-B723-4DA0-A597-6F241F5F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Checks domain/year keys and geometry domains across all files.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6BE46A50-81EF-47D2-B005-36120A341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77A5AFB-3383-4827-A0F9-B0987F38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D9DDBB2-68C9-4C5B-9ED3-EC86F3D0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4E3BD029-2F21-4713-9E62-CE633D63F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Missing poverty rates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28B16E65-83A3-438A-8917-79F85557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Flags empty domain-year cells.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7201D11-AB1D-4305-99C3-EEACC0BA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2590800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5FED4191-0056-4539-A128-D1075E62E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3246120"/>
            <a:ext cx="54864" cy="1234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F1BB6AA1-9C90-4C26-8F7D-B844060B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383280"/>
            <a:ext cx="6400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780BEF0-4A77-4486-AEA6-0DF1E0B8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3749040"/>
            <a:ext cx="22250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National headcount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773123C-CCC8-48AF-B53D-9C9935C04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8880" y="4087368"/>
            <a:ext cx="2225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Population-weighted national poverty for selected years.</a:t>
            </a:r>
          </a:p>
        </p:txBody>
      </p:sp>
    </p:spTree>
    <p:extLst>
      <p:ext uri="{BB962C8B-B14F-4D97-AF65-F5344CB8AC3E}">
        <p14:creationId xmlns:p14="http://schemas.microsoft.com/office/powerpoint/2010/main" val="188693109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8B8A72A-969A-4BEC-8A0B-0612CD29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EA24534-2C8D-43F6-B5F5-5085EAD3B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2E37991-538E-46E9-B78A-82E10B3F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OUTPUTS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BD3B29F-DEDA-428F-A721-B5D72F2A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1528269-7A65-4B2D-8155-369AE832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652FFFF-9B4E-420F-BABE-DC61C6D8A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29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5021AAF1-151B-40F7-A4F9-597EC2308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Where results live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9A73CF4-5382-4995-B536-2016D968A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Current outputs are in outputs/. Each run also has an archived copy under app_runs/.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6BF8A42-7E77-43F3-A7A6-ECE4A7BD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D8428EF1-2A44-411F-8808-8707AD1F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96C980B-2679-4AFC-8ADA-8CECCB15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outputs/final_report.html + .docx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4CDD909-1600-4122-B6A2-D8357D18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Same results in both formats. Word text/tables are editable; figures are images. AI blocks retain review labels.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7E76D27-AFBB-4458-AA95-19390165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EE299E75-068D-4EB9-8F7B-E89B20AA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198424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D7D6CA3-9D70-401F-B605-99CC382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4708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outputs/figures/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A078FD86-A6DB-4098-8684-6F5C1FD3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1226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Maps and diagnostics, plus signed-change and CI-width comparison plots (.png).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D1F07D4C-510F-4794-A109-20C7EB76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34D142FF-FE10-40FB-99DB-6DFFB8C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1f80dc5648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D2008083-8A22-44DA-93F7-3A70CD5B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outputs/data/pov_comparison_detailed.xlsx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73765296-724F-40D4-8F27-CA8AF3C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Detailed Direct, FH, and MFH estimates with domain names, population, poverty line, MSE, RMSE, CV, and benchmark columns when enabled.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2D2A84E8-0468-4A0D-A87F-AB348834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F0BDAC8B-20BE-4A16-BE9D-1EA609E10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604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0720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70A94358-99E9-4702-9145-81E25FEB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67004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outputs/data/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3B1A0894-2FDF-43E1-B86D-1D3AE247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3522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Workbooks include EU_SAE_results.xlsx and change_estimate_comparison.xlsx; models and AI metadata are retained.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0872B8BA-6BF3-45D6-8926-F4ED01782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6F65EA1C-D3DE-4681-A433-71CFAA44B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0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710e4805f41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92BC5667-E020-48DA-8251-3E91E3A0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outputs/tables/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2199F46B-7597-475B-B90B-85181A4B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CSV summaries - readiness checks, LASSO/stepwise diagnostics, model-fit statistics, Shapiro tests, and significance results.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10AD6E75-2F45-4E4A-91AD-631F1BE8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3954780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F1EA5501-A9D6-4BAA-A580-DB7B7F562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429000"/>
            <a:ext cx="54864" cy="7132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5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9e60c5c534e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630168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211DA557-31CC-4254-A585-72F02E37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493008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app_runs/&lt;timestamp&gt;_&lt;run_label&gt;/app_config.yml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946406F1-82D9-40D8-B930-E753FFF5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758184"/>
            <a:ext cx="32689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Saved run configuration - years, mappings, benchmarking settings, and output archive location.</a:t>
            </a:r>
          </a:p>
        </p:txBody>
      </p:sp>
      <p:sp>
        <p:nvSpPr>
          <p:cNvPr id="40" name="Shape 32">
            <a:extLst xmlns:a="http://schemas.openxmlformats.org/drawingml/2006/main">
              <a:ext uri="{FF2B5EF4-FFF2-40B4-BE49-F238E27FC236}">
                <a16:creationId xmlns:a16="http://schemas.microsoft.com/office/drawing/2014/main" id="{F078EB0E-DC11-4568-800D-48880DBC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389120"/>
            <a:ext cx="813816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B"/>
          </a:solidFill>
          <a:ln xmlns:a="http://schemas.openxmlformats.org/drawingml/2006/main" w="9525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9" name="Imag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a6b3d04b748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4462272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42" name="Text 33">
            <a:extLst xmlns:a="http://schemas.openxmlformats.org/drawingml/2006/main">
              <a:ext uri="{FF2B5EF4-FFF2-40B4-BE49-F238E27FC236}">
                <a16:creationId xmlns:a16="http://schemas.microsoft.com/office/drawing/2014/main" id="{C5614B53-7601-45F1-A2EE-655560E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389120"/>
            <a:ext cx="7589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Note  Save a separate Word copy before editing. Keep outputs/data/ for Excel links; later runs replace current outputs.</a:t>
            </a:r>
          </a:p>
        </p:txBody>
      </p:sp>
    </p:spTree>
    <p:extLst>
      <p:ext uri="{BB962C8B-B14F-4D97-AF65-F5344CB8AC3E}">
        <p14:creationId xmlns:p14="http://schemas.microsoft.com/office/powerpoint/2010/main" val="2090383252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1efa7f874be468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92ee9b0cb944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32120" y="1005840"/>
            <a:ext cx="3154680" cy="2999232"/>
          </a:xfrm>
          <a:prstGeom xmlns:a="http://schemas.openxmlformats.org/drawingml/2006/main" prst="rect">
            <a:avLst/>
          </a:prstGeom>
        </p:spPr>
      </p:pic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5EF2968C-81E9-46C0-B756-A66E0440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463040"/>
            <a:ext cx="49377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PART 03  ·  OPTIONAL</a:t>
            </a:r>
          </a:p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C25F47D-3B0B-45C2-BCB6-AF70B959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8CBCF23E-413E-4766-B4A3-FD27ED67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011680"/>
            <a:ext cx="493776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AI Assistant —</a:t>
            </a:r>
          </a:p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 &amp; ChatGPT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F8E289B5-10F9-4D9F-B2DB-3DA9E8CA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931920"/>
            <a:ext cx="49377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Acknowledge the external transfer first; use only an approved provider or gateway, then enter a key.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D83F6059-E75E-426D-AC87-AFFB0EB6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686300"/>
            <a:ext cx="9601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30 / 37</a:t>
            </a:r>
          </a:p>
        </p:txBody>
      </p:sp>
    </p:spTree>
    <p:extLst>
      <p:ext uri="{BB962C8B-B14F-4D97-AF65-F5344CB8AC3E}">
        <p14:creationId xmlns:p14="http://schemas.microsoft.com/office/powerpoint/2010/main" val="109268974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36C96C7-197A-49D1-9C61-3D7E550A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D5AF9807-CBAB-4FAD-B266-A24DD0C31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572DB30-DC19-48A5-BDB0-8806F5F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9AD3C9D-1FBC-4583-BAD7-197F805E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5E11CE4-8BE6-4C5F-9B85-22E575C1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1D5718A-1437-4459-A05D-B790414AD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31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7335C38-BE3E-42F7-A556-3E8CEFC14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What the AI Assistant does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7CD521B-04CF-402E-A7C7-3EE13F71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Plain-language interpretation in both HTML and Word reports, in your language.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E4F0D4B7-785F-4007-BDFE-78BF2BFE7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ABE6B5B-D249-4E8A-B517-F2EF666D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7d8f7ad33445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1D023E0-E079-48BB-8C72-986983DF5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Interpret diagnostics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C73E3A0E-E200-40AF-81A5-3E9549C8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Summarizes convergence, normality, and precision.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F2329237-AF01-4C8E-B3DF-1819400C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6CECCB65-02DD-42C8-BE2C-86ACD430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bcfe6e30643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0CB7EAA0-FFB0-4714-810C-397DF61C7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Evaluate normality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82B6BC08-B4C0-4711-83BE-55345038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Reads Shapiro–Wilk results; can view Q–Q plots.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9FAEC23-45B4-487B-85AF-ACF5672B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2590800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E377EA41-3E9E-4F4B-B07F-D87323DAB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1828800"/>
            <a:ext cx="54864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2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c8612571f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103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06CBCC54-170F-42E3-A75D-1A4C99B37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97480"/>
            <a:ext cx="2133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Generate a brief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CB75B520-7316-4157-A86A-ABE33707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 structured markdown analysis report.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89F2DC87-7CE7-4736-BB21-818682041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60520"/>
            <a:ext cx="81381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cd8e302ad4e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4288536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27" name="Text 21">
            <a:extLst xmlns:a="http://schemas.openxmlformats.org/drawingml/2006/main">
              <a:ext uri="{FF2B5EF4-FFF2-40B4-BE49-F238E27FC236}">
                <a16:creationId xmlns:a16="http://schemas.microsoft.com/office/drawing/2014/main" id="{0E9566AD-7A92-4D54-AE70-3837C08BF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160520"/>
            <a:ext cx="745236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 b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Privacy  No microdata is sent. Prompts carry aggregate estimates, uncertainty, diagnostics and counts; geographic identifiers are removed from the ranked and extreme-change tables. Every AI block requires documented human review.</a:t>
            </a:r>
          </a:p>
        </p:txBody>
      </p:sp>
    </p:spTree>
    <p:extLst>
      <p:ext uri="{BB962C8B-B14F-4D97-AF65-F5344CB8AC3E}">
        <p14:creationId xmlns:p14="http://schemas.microsoft.com/office/powerpoint/2010/main" val="84378422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3E34E0B-6237-49F4-ADBF-F10482C1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BE6C32DE-0A41-4D8E-8B8B-6829200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680059F-F3CB-4801-BE2B-9A72BB45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ANTHROPIC CLAUDE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C90923D-2EFB-421D-B528-EEA14FA6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89983FCD-B255-4BD4-902C-924ABC34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CCDB48-FD01-44A4-8745-DD09C54A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32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6FC2E92-410E-4999-B04D-6DA5B2BC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Claude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E9B5265-06F6-49F5-8490-CAD67AC8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Anthropic's API platform — keys start with sk-ant-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98471DE-BBF2-4C3A-90FC-95C9B919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7B3194-73DC-42BA-AB7E-80D6A64D5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8C5FF11-060A-4BEE-AD67-053F1F24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console.anthropic.com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3DA9132-CCA2-44EE-96DE-E7F6B24F0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F675461-8B97-410B-A45B-469802B8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D564006-9213-4638-9779-A07DD959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Settings → API Keys — or go to console.anthropic.com/settings/keys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4D57174-0B82-4A50-89B7-1F1994AC4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17CEA51-3C88-422D-BB52-AE7F1209E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30D51C1-C261-4307-84BD-E45F0E93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886AFBB7-DEB3-4B51-A63A-7AF49B110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A7192E76-842E-4A11-AFE9-60A81FD75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078096B1-F9BD-4D6C-BB79-B1501275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6672575B-11D3-489C-AF68-8811DC72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AE5BAAA-2E86-4FDF-9442-8748E5B2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194F899-8601-47F5-B2C3-1D631847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C3BF3BB7-EB33-468E-A5C7-CC2F5A78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3A1DE068-7FB2-4804-A3F5-7827A3A7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57"/>
          </a:solidFill>
          <a:ln xmlns:a="http://schemas.openxmlformats.org/drawingml/2006/main" w="12700">
            <a:solidFill>
              <a:srgbClr val="D9775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f96051ed024b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EEADFEE-4687-4C81-A17D-B4594467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Claude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70922EBA-A797-4A7A-8D9C-C161F31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Anthropic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327EF908-6FC4-47BD-9129-89334055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6BBE144E-BF8C-46F5-94BA-BA87E3E4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sk-ant-…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DBBC406B-4CF1-4AE8-8C2B-018D6608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736595376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3FCBCED-5B9C-4A7F-8742-CE68FCD6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2C6FC08-0C1E-4836-B762-97DD8CF7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61DFB227-8D0F-4FE0-B95F-0E055A65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API KEY  ·  OPENAI CHATGPT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ED825DF6-A805-47AD-808A-432198F8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EE52D9-9362-4F68-8AB0-0E896E81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2FE38B6-A985-45AE-AFD5-C0580573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33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F4593FE-E22F-4960-9317-F7072142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Get a ChatGPT (OpenAI) API key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5E136A64-1E8B-4596-B5BF-3F6483FAB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OpenAI's developer platform — keys start with sk-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3DAE9206-4F02-4DFD-A5FE-8587ED21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3B1593F-1C3A-423B-BB27-8593EE2E4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74520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94464D7-8C37-40C7-8D9E-5F794CE0B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1828800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Open platform.openai.com — sign up or log in.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A5D7364-5CDC-46CB-B48F-5943AEF01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83C4AD83-593E-4A80-810E-4DFE7B1F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50008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BA854A9-EA51-45E3-AE91-376E56CD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304288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Dashboard → API Keys — or go to platform.openai.com/api-keys directly.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9D321A3C-39DA-4047-AD46-99355BBD2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A5913C2-A961-46DC-AB2E-83BB01990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825496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0933DC0-3835-4128-A98E-A29B5B59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2779776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Create a new key — give it a name and copy it.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11EC3D35-AE55-42A3-81B6-E2F44C01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4626CFC-6D56-4144-B3EE-ECEA7EC17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300984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1A80A4A-B72E-4EA3-9888-6D745C3E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255264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Add credit in Billing — pay-as-you-go, no subscription.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39A507B-225D-4D8F-B7E8-2DB34EE7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AED9191-D4CC-42B6-83BC-4FDC778CD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76472"/>
            <a:ext cx="347472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69C1E46-5E47-4630-8F74-72017E47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" y="3730752"/>
            <a:ext cx="484632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After consent, enter an approved provider or gateway key in the AI panel.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0098F16-81C4-4EB7-963A-F7C44CE0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AD8B7894-0D15-43D7-9BD3-01C3A0ED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1828800"/>
            <a:ext cx="233172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37F"/>
          </a:solidFill>
          <a:ln xmlns:a="http://schemas.openxmlformats.org/drawingml/2006/main" w="12700">
            <a:solidFill>
              <a:srgbClr val="10A37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03625b384e4d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00900" y="2331720"/>
            <a:ext cx="548640" cy="548640"/>
          </a:xfrm>
          <a:prstGeom xmlns:a="http://schemas.openxmlformats.org/drawingml/2006/main" prst="rect">
            <a:avLst/>
          </a:prstGeom>
        </p:spPr>
      </p:pic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EDBE7A50-EBAE-445B-81F1-31AE36E1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017520"/>
            <a:ext cx="18745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ChatGPT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C47C3FA6-37DE-40F1-A614-1C36D65D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429000"/>
            <a:ext cx="1874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OpenAI</a:t>
            </a:r>
          </a:p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25630890-6DE2-4BB5-96DB-846A635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FDC68B66-2F83-4693-9C44-2B13E7B8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840480"/>
            <a:ext cx="1874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sk-…</a:t>
            </a:r>
          </a:p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F09A44A1-BD8E-4EE5-999B-71E9945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315968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Key format</a:t>
            </a:r>
          </a:p>
        </p:txBody>
      </p:sp>
    </p:spTree>
    <p:extLst>
      <p:ext uri="{BB962C8B-B14F-4D97-AF65-F5344CB8AC3E}">
        <p14:creationId xmlns:p14="http://schemas.microsoft.com/office/powerpoint/2010/main" val="4298795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D99C153-E3A5-4E83-B00A-9F861FD2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B32C7D-A546-4896-8419-ECC80A21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3BEB381-39A0-417D-ADB4-B83D51504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228D9C2-7E27-478F-8C20-CF59571E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D6C87BB-6603-4259-9D0B-9B05C2F9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1BC7369-9FF1-4F66-81C1-2A960CA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34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02D645F-2066-434F-A79C-5CDDC35A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the AI Assistant in the app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73DFCE0-C26A-4FFD-A487-F5C52267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One checkbox, one key, one language — then you're ready.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59AAE02-0980-4791-B5CD-8EF19E27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37360"/>
            <a:ext cx="3931920" cy="3017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E0C14EF-34B0-445C-A6D7-AEDB0E7C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20240"/>
            <a:ext cx="33832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Assistant (optional)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4E62D36-FD69-46A0-9D87-C6153A31A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240280"/>
            <a:ext cx="338328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AI interpretations appear in both HTML and Word reports. No microdata is sent; geographic IDs are removed from prompt tables.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A1FD5F3B-6CCC-4400-A98B-F589BDB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2C3FB0B-E51F-4CD6-8CD9-9FAB1BA4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1752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✓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DF189F2-847F-4FCE-9E72-B4B8C5FC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971800"/>
            <a:ext cx="31089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Assistant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2757D8-C3DA-45B3-A358-FE3777E4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8328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API Key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E31DC530-F0D9-48B6-9F84-D025BAD7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63931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E3AA5900-F550-4093-B800-7D6F2E18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39312"/>
            <a:ext cx="3200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onsolas"/>
                <a:ea typeface="Consolas"/>
                <a:cs typeface="Consolas"/>
              </a:rPr>
              <a:t>sk-ant-••••••••••••••••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2DBD7C09-1CEA-4DBC-B55A-D5F97FE1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023360"/>
            <a:ext cx="33832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Language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4D2A113A-86FA-4A40-8FA0-F40013C7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279392"/>
            <a:ext cx="3383280" cy="3474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7A203F8F-4C4C-4C39-AE72-3821D844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279392"/>
            <a:ext cx="30175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4365332F-8255-40E0-8482-90211C47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4279392"/>
            <a:ext cx="2286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▾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4718779-8CFB-4520-8FE5-E15826E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F45E478D-7E63-47D3-8970-D1AB6E7C0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1828800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EEFD9B4-EF3E-4569-895D-232CD898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4A58BAD-D755-476A-99CA-0077B01A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029968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B813D38D-4DFC-49FA-9B47-ADFD2781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1965960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Enable AI and acknowledge the external transfer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CDFB028-F64C-48E2-96B5-9D276D05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267712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Both controls are required before key entry.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8C4C79D-CF5A-4808-B767-B7A2BD5D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AAA93CF5-EADB-47B1-8BA1-302BFEDF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2770632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06502C0-8C27-47A5-8AD0-2ACBAE210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7C64568-2FF3-4604-8F68-9EDE758FB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297180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18E8CE68-087B-4677-A031-84BE7405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2907792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Enter an approved provider or gateway key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003C0275-8134-497F-B2F2-61B263163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209544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The app auto-detects Claude (sk-ant-…) or ChatGPT (sk-…).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5151E27B-731A-453D-A6D5-0590E7513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38862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4">
            <a:extLst xmlns:a="http://schemas.openxmlformats.org/drawingml/2006/main">
              <a:ext uri="{FF2B5EF4-FFF2-40B4-BE49-F238E27FC236}">
                <a16:creationId xmlns:a16="http://schemas.microsoft.com/office/drawing/2014/main" id="{C0B1918C-7D0E-43E7-B83F-765EB543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4880" y="3712464"/>
            <a:ext cx="54864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5E8B485-ED40-41CD-91E1-83C01E23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12700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FF6B74D9-CBD0-4223-8BFB-0F6D88D1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048" y="3913632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81AD7DA9-7836-44C3-874C-B2F70B44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3849624"/>
            <a:ext cx="2971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Pick your language</a:t>
            </a:r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32315AC-5C8F-42D6-85F6-CFA8A42B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2120" y="4151376"/>
            <a:ext cx="297180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25 options. Every AI response comes back in that language.</a:t>
            </a:r>
          </a:p>
        </p:txBody>
      </p:sp>
      <p:pic>
        <p:nvPicPr>
          <p:cNvPr id="8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aaf9926047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54880" y="4709160"/>
            <a:ext cx="201168" cy="201168"/>
          </a:xfrm>
          <a:prstGeom xmlns:a="http://schemas.openxmlformats.org/drawingml/2006/main" prst="rect">
            <a:avLst/>
          </a:prstGeom>
        </p:spPr>
      </p:pic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56DF9E23-CC6A-456F-B9DF-6471F5C8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654296"/>
            <a:ext cx="3611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i="1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The key is never stored on disk — re-enter it each time you relaunch the app.</a:t>
            </a:r>
          </a:p>
        </p:txBody>
      </p:sp>
    </p:spTree>
    <p:extLst>
      <p:ext uri="{BB962C8B-B14F-4D97-AF65-F5344CB8AC3E}">
        <p14:creationId xmlns:p14="http://schemas.microsoft.com/office/powerpoint/2010/main" val="31766585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B857109-CC77-4106-B31E-CE256ED3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A5F56BE-C8AC-4B0E-BC6E-3E4E9EB4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E275555-8463-4F0B-ABC2-A54EC02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AI ASSISTANT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8E21AEA-A810-4902-8431-74DA82E4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84904D5-3555-4A5C-A939-41C8F4F43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A782A2A-68D8-4E39-9B0E-C59D64A5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35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CA828C3-B6D9-4D41-A3EA-EE681DE41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25 languages supported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A193E6D-3172-4C4C-9F50-2A07EC0D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Every AI response is returned in the language you pick.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77E9D79D-1844-4739-97D0-3C4F85F9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828800"/>
            <a:ext cx="2011680" cy="2697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  <a:ln xmlns:a="http://schemas.openxmlformats.org/drawingml/2006/main" w="9525">
            <a:solidFill>
              <a:srgbClr val="1528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CCBE33EA-B1B5-4C9D-A756-37F47B180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0"/>
            <a:ext cx="20116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1D8CC58-FC15-40FC-8712-3CA05585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3703320"/>
            <a:ext cx="640080" cy="365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3B1EF959-D451-4E50-8B7D-81748ABF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9476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spc="3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languages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53AD904-4341-4498-AFB5-A6E779553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114800"/>
            <a:ext cx="20116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i="1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24 EU official  ·  + Arabic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15632E6-DA02-4DF8-87A6-D97CC1E6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7A6A72CF-B536-4D0D-A0E0-5334805A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Bulgarian</a:t>
            </a:r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A5055A08-175C-4AD1-96A4-6EABAD238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9120920-DCB8-46C8-A90F-AB89F28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Croatian</a:t>
            </a:r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78111935-6D27-48BD-B195-53DCA1B9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46C9142-9956-4B06-85F3-4444CBC9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Czech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346CEF15-98D3-448E-8F78-25954C06C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837DDCB3-D8EC-412E-A7D3-7E2A1EE8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Danish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CA5A9A64-BBD4-48B8-BC26-C9428C54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E6BD48-9590-47D1-AD9A-AF7E1DB2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1828800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Dutch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589FD479-5691-4F76-81BA-EBAFD2F4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D7D6467-B5D7-4AE7-9209-C9C9BFA0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English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61B626E1-6DAE-42A3-BB01-BA6DB49B9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D1828BA9-9538-478F-9171-6CCF695A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Estonian</a:t>
            </a:r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8984A143-3E28-4D08-A5C9-260C2A4B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40CC822-5526-4CD6-A968-003392859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Finnish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C4D53B6-03B6-4559-A87A-8921732C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78EC763-B37B-4966-8BDC-B899DD28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French</a:t>
            </a:r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F93849D3-DA24-4E34-9FFD-D1F8594C0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93C18510-9DC9-4E60-8881-EBD83FD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390242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German</a:t>
            </a:r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1238649-9E8F-4F2C-A9E0-01B45D79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1AD7B6F-EDCB-48DC-ACF2-780A8A26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Greek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E65E369-BA9D-4A9E-8E87-A87307D4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B752CD10-2F1A-495E-90E3-B7290DB9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Hungarian</a:t>
            </a:r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186B2406-69BE-46AD-A1B0-57E30BA2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8AD2DEAC-57C2-4BE7-91B2-1AADBC5BB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Irish</a:t>
            </a:r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1EF81A98-45F5-4699-AD32-5CBDE51F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37333508-2C99-419F-BCF5-91FF40F8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Italian</a:t>
            </a:r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85DE3994-5D7D-43E2-BE31-13DE29AD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950B2106-2797-4266-9B30-7AE0A03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2951683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Latvian</a:t>
            </a:r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87D189FD-7676-430E-A6E2-BB0FCDF40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09DC799E-F69F-4AB1-86C9-F300C329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Lithuanian</a:t>
            </a:r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D485DEA-41F4-4D4B-A04D-8BF16829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ECC2372B-7A6E-4DFD-BD9E-8879A401F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Maltese</a:t>
            </a:r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C526E0E6-546F-4AB0-AB74-EFAE8DA4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F6C98A33-91B7-44A5-9925-8A9D173C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Polish</a:t>
            </a:r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5E202B30-4467-4AD3-ABCB-696A34E3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9D4419C-8A7C-458A-913C-152D447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Portuguese</a:t>
            </a:r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BD0D7B34-691F-4377-A1B7-079CF15D5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1C8B128C-21DF-4A3F-958F-D82D18F41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3513125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Romanian</a:t>
            </a:r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57A1C700-07EE-478C-B6F4-D947053E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70B966E6-BD8E-432E-B249-727908CF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Slovak</a:t>
            </a:r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467BCCA-2C8A-4C34-8DB9-203D513AE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167806C7-3B95-4522-B198-C9A54E803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298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Slovenian</a:t>
            </a:r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4942F818-EEB9-4386-AA33-5A59D626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E8E7570A-6390-477A-B808-648CDBB2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3675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Spanish</a:t>
            </a:r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DC71F334-3822-4B11-BB59-4944E343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29EC234-7B27-4B81-80D5-0F151700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6053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Swedish</a:t>
            </a:r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D7447C9C-C7E0-4E0B-9EC8-B3B8D27B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33039A83-53A7-4418-BB2F-ADCEA5DC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8430" y="4074566"/>
            <a:ext cx="1082650" cy="45171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Arabic</a:t>
            </a:r>
          </a:p>
        </p:txBody>
      </p:sp>
    </p:spTree>
    <p:extLst>
      <p:ext uri="{BB962C8B-B14F-4D97-AF65-F5344CB8AC3E}">
        <p14:creationId xmlns:p14="http://schemas.microsoft.com/office/powerpoint/2010/main" val="93364031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4F6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53D9F7-BE8B-4B72-A51E-0D698FDC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284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95ABB34-CB7E-49B4-A596-D0FD0DAF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9728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FBC49EE-50EE-4482-9592-17AF1153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47472"/>
            <a:ext cx="64008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6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53247-B53B-4401-8A7E-10D640AE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32020"/>
            <a:ext cx="813816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CE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70F7397-8BE0-4339-B2C3-FF487AF28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796028"/>
            <a:ext cx="45720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EU SAE Wizard &amp; Dashboard  ·  User Guide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9D03AF2-8491-4562-BC0C-050C98E2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4796028"/>
            <a:ext cx="960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>
                <a:solidFill>
                  <a:srgbClr val="7A8CAE"/>
                </a:solidFill>
                <a:latin typeface="Calibri"/>
                <a:ea typeface="Calibri"/>
                <a:cs typeface="Calibri"/>
              </a:rPr>
              <a:t>36 / 37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E3B425F-E96A-4F6E-9949-2982A8A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40080"/>
            <a:ext cx="81381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Troubleshooting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C2E5DA6-70DD-4F0C-9184-2C7E8B98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34440"/>
            <a:ext cx="8138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Quick fixes for the most common stumbling blocks.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FDF19A11-1918-4C62-992D-219D9C1C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4F11A45-B961-4895-8BB6-EDE3E93C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58d1e30124b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6634D09-DE22-4E81-BD40-723A52CC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Package errors on launch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91A81265-6EF1-424C-B46A-CE6A7AE0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Re-run the launcher you used. It reinstalls missing packages automatically.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95F7CB06-8DA4-44E4-B498-2886771E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8C66E8E-9DB4-4BFB-8096-5F17EE3B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83080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011680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840A86E7-ED4F-4680-B228-9A08C243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1874520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Data file not selected or not found</a:t>
            </a:r>
          </a:p>
        </p:txBody>
      </p:sp>
      <p:sp>
        <p:nvSpPr>
          <p:cNvPr id="19" name="Text 15">
            <a:extLst xmlns:a="http://schemas.openxmlformats.org/drawingml/2006/main">
              <a:ext uri="{FF2B5EF4-FFF2-40B4-BE49-F238E27FC236}">
                <a16:creationId xmlns:a16="http://schemas.microsoft.com/office/drawing/2014/main" id="{E731AC2F-7ADF-4821-94BB-18DA5BF0B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130552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Use Browse for each file. Survey/auxiliary: RDS/RData, CSV/TSV/TXT/DAT, Stata/SPSS/SAS, Parquet/Feather, Excel. Geometry: ESRI .zip, RDS, GPKG, GeoJSON.</a:t>
            </a:r>
          </a:p>
        </p:txBody>
      </p:sp>
      <p:sp>
        <p:nvSpPr>
          <p:cNvPr id="20" name="Shape 16">
            <a:extLst xmlns:a="http://schemas.openxmlformats.org/drawingml/2006/main">
              <a:ext uri="{FF2B5EF4-FFF2-40B4-BE49-F238E27FC236}">
                <a16:creationId xmlns:a16="http://schemas.microsoft.com/office/drawing/2014/main" id="{60306D76-D8D3-46E0-A935-54A258C3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7">
            <a:extLst xmlns:a="http://schemas.openxmlformats.org/drawingml/2006/main">
              <a:ext uri="{FF2B5EF4-FFF2-40B4-BE49-F238E27FC236}">
                <a16:creationId xmlns:a16="http://schemas.microsoft.com/office/drawing/2014/main" id="{5D3923B9-848D-4C39-8CE5-CF0B22F3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6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8F5958DB-43BB-43F0-AE52-A6E6175B2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Report or Word file missing</a:t>
            </a:r>
          </a:p>
        </p:txBody>
      </p:sp>
      <p:sp>
        <p:nvSpPr>
          <p:cNvPr id="24" name="Text 19">
            <a:extLst xmlns:a="http://schemas.openxmlformats.org/drawingml/2006/main">
              <a:ext uri="{FF2B5EF4-FFF2-40B4-BE49-F238E27FC236}">
                <a16:creationId xmlns:a16="http://schemas.microsoft.com/office/drawing/2014/main" id="{13CD6BB9-8B6E-49E7-843E-0873C512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the run log, Pandoc, xml2 and zip; fix and regenerate. Word failure leaves HTML intact.</a:t>
            </a:r>
          </a:p>
        </p:txBody>
      </p:sp>
      <p:sp>
        <p:nvSpPr>
          <p:cNvPr id="25" name="Shape 20">
            <a:extLst xmlns:a="http://schemas.openxmlformats.org/drawingml/2006/main">
              <a:ext uri="{FF2B5EF4-FFF2-40B4-BE49-F238E27FC236}">
                <a16:creationId xmlns:a16="http://schemas.microsoft.com/office/drawing/2014/main" id="{118E648F-624E-4DD6-A4B2-CE1EBDFD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1">
            <a:extLst xmlns:a="http://schemas.openxmlformats.org/drawingml/2006/main">
              <a:ext uri="{FF2B5EF4-FFF2-40B4-BE49-F238E27FC236}">
                <a16:creationId xmlns:a16="http://schemas.microsoft.com/office/drawing/2014/main" id="{5E2F76AF-BC71-49E6-AFF4-A984954A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2616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2871216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28" name="Text 22">
            <a:extLst xmlns:a="http://schemas.openxmlformats.org/drawingml/2006/main">
              <a:ext uri="{FF2B5EF4-FFF2-40B4-BE49-F238E27FC236}">
                <a16:creationId xmlns:a16="http://schemas.microsoft.com/office/drawing/2014/main" id="{2A726CD4-DBA3-42B2-A5F1-85041A42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734056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says invalid key</a:t>
            </a:r>
          </a:p>
        </p:txBody>
      </p:sp>
      <p:sp>
        <p:nvSpPr>
          <p:cNvPr id="29" name="Text 23">
            <a:extLst xmlns:a="http://schemas.openxmlformats.org/drawingml/2006/main">
              <a:ext uri="{FF2B5EF4-FFF2-40B4-BE49-F238E27FC236}">
                <a16:creationId xmlns:a16="http://schemas.microsoft.com/office/drawing/2014/main" id="{F2A32C43-A836-4879-8081-A37DFBA2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2990088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Paste only the key — no quotes, no spaces. Check billing is active.</a:t>
            </a:r>
          </a:p>
        </p:txBody>
      </p:sp>
      <p:sp>
        <p:nvSpPr>
          <p:cNvPr id="30" name="Shape 24">
            <a:extLst xmlns:a="http://schemas.openxmlformats.org/drawingml/2006/main">
              <a:ext uri="{FF2B5EF4-FFF2-40B4-BE49-F238E27FC236}">
                <a16:creationId xmlns:a16="http://schemas.microsoft.com/office/drawing/2014/main" id="{9BEA3653-212B-4196-B067-CDD03E52D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5">
            <a:extLst xmlns:a="http://schemas.openxmlformats.org/drawingml/2006/main">
              <a:ext uri="{FF2B5EF4-FFF2-40B4-BE49-F238E27FC236}">
                <a16:creationId xmlns:a16="http://schemas.microsoft.com/office/drawing/2014/main" id="{F71E6151-2DC6-4E51-AE47-2072990E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76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3" name="Text 26">
            <a:extLst xmlns:a="http://schemas.openxmlformats.org/drawingml/2006/main">
              <a:ext uri="{FF2B5EF4-FFF2-40B4-BE49-F238E27FC236}">
                <a16:creationId xmlns:a16="http://schemas.microsoft.com/office/drawing/2014/main" id="{5E27ADDE-C1D4-4778-81EC-2B804205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AI request times out</a:t>
            </a:r>
          </a:p>
        </p:txBody>
      </p:sp>
      <p:sp>
        <p:nvSpPr>
          <p:cNvPr id="34" name="Text 27">
            <a:extLst xmlns:a="http://schemas.openxmlformats.org/drawingml/2006/main">
              <a:ext uri="{FF2B5EF4-FFF2-40B4-BE49-F238E27FC236}">
                <a16:creationId xmlns:a16="http://schemas.microsoft.com/office/drawing/2014/main" id="{F09C2792-69A6-4471-9752-4BF5E07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Try again, or reduce the year range. Check the Status tab for the provider error summary.</a:t>
            </a:r>
          </a:p>
        </p:txBody>
      </p:sp>
      <p:sp>
        <p:nvSpPr>
          <p:cNvPr id="35" name="Shape 28">
            <a:extLst xmlns:a="http://schemas.openxmlformats.org/drawingml/2006/main">
              <a:ext uri="{FF2B5EF4-FFF2-40B4-BE49-F238E27FC236}">
                <a16:creationId xmlns:a16="http://schemas.microsoft.com/office/drawing/2014/main" id="{5015BA0E-4676-4BED-8FF3-896ACACF2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39547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4F0"/>
            </a:solidFill>
            <a:prstDash val="solid"/>
          </a:ln>
          <a:effectLst xmlns:a="http://schemas.openxmlformats.org/drawingml/2006/main">
            <a:outerShdw blurRad="76200" dist="12700" dir="5400000" algn="bl" rotWithShape="0">
              <a:srgbClr val="1F3669">
                <a:alpha val="5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29">
            <a:extLst xmlns:a="http://schemas.openxmlformats.org/drawingml/2006/main">
              <a:ext uri="{FF2B5EF4-FFF2-40B4-BE49-F238E27FC236}">
                <a16:creationId xmlns:a16="http://schemas.microsoft.com/office/drawing/2014/main" id="{B001B233-1358-4210-AF76-D9FABF4ED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02152"/>
            <a:ext cx="54864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81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c0bd7604174b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69180" y="3730752"/>
            <a:ext cx="310896" cy="310896"/>
          </a:xfrm>
          <a:prstGeom xmlns:a="http://schemas.openxmlformats.org/drawingml/2006/main" prst="rect">
            <a:avLst/>
          </a:prstGeom>
        </p:spPr>
      </p:pic>
      <p:sp>
        <p:nvSpPr>
          <p:cNvPr id="38" name="Text 30">
            <a:extLst xmlns:a="http://schemas.openxmlformats.org/drawingml/2006/main">
              <a:ext uri="{FF2B5EF4-FFF2-40B4-BE49-F238E27FC236}">
                <a16:creationId xmlns:a16="http://schemas.microsoft.com/office/drawing/2014/main" id="{92E494EE-127F-4495-883D-6B271683A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593592"/>
            <a:ext cx="32689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F1E3F"/>
                </a:solidFill>
                <a:latin typeface="Calibri"/>
                <a:ea typeface="Calibri"/>
                <a:cs typeface="Calibri"/>
              </a:rPr>
              <a:t>Geometry readiness error</a:t>
            </a:r>
          </a:p>
        </p:txBody>
      </p:sp>
      <p:sp>
        <p:nvSpPr>
          <p:cNvPr id="39" name="Text 31">
            <a:extLst xmlns:a="http://schemas.openxmlformats.org/drawingml/2006/main">
              <a:ext uri="{FF2B5EF4-FFF2-40B4-BE49-F238E27FC236}">
                <a16:creationId xmlns:a16="http://schemas.microsoft.com/office/drawing/2014/main" id="{42A9F09F-D87B-4758-9626-705D0C1E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0660" y="3849624"/>
            <a:ext cx="32689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3578A"/>
                </a:solidFill>
                <a:latin typeface="Calibri"/>
                <a:ea typeface="Calibri"/>
                <a:cs typeface="Calibri"/>
              </a:rPr>
              <a:t>Check geometry domain IDs match your data and the mapped geometry domain column. For ESRI shapefiles, use a .zip containing valid, non-empty .shp, .shx, and .dbf.</a:t>
            </a:r>
          </a:p>
        </p:txBody>
      </p:sp>
    </p:spTree>
    <p:extLst>
      <p:ext uri="{BB962C8B-B14F-4D97-AF65-F5344CB8AC3E}">
        <p14:creationId xmlns:p14="http://schemas.microsoft.com/office/powerpoint/2010/main" val="1911501480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286a9eb5c6469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93BD247-56BC-41D3-BB01-6792CF24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85800"/>
            <a:ext cx="81381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1000">
                <a:solidFill>
                  <a:srgbClr val="6AA7D9"/>
                </a:solidFill>
                <a:latin typeface="Calibri"/>
                <a:ea typeface="Calibri"/>
                <a:cs typeface="Calibri"/>
              </a:rPr>
              <a:t>YOU'RE READY</a:t>
            </a: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556BD10-623C-41EA-8E72-281C94AD9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097280"/>
            <a:ext cx="411480" cy="45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3468D23-93A7-419C-85E4-A7C9CE11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80160"/>
            <a:ext cx="81381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4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Download, launch, analyse.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AD9879A5-5D77-4279-AFBB-B2B2886E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5DB4BDF-A23B-4948-A782-010CEA28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d2208d85344ef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D5A21973-4CE0-4721-9D02-A04873C6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Use the 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5.2.0-rc.6</a:t>
            </a: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clean archive</a:t>
            </a:r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EE99D3-AA11-415D-8AF7-168A0532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11A3E5B-0F64-47EC-AE4C-17F357FA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From the authorized release manager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320733B-F5CD-46CF-A095-DF3C5CE1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8FA326-392C-4D5A-B9A1-5BBF5073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827c015da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5092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14" name="Text 10">
            <a:extLst xmlns:a="http://schemas.openxmlformats.org/drawingml/2006/main">
              <a:ext uri="{FF2B5EF4-FFF2-40B4-BE49-F238E27FC236}">
                <a16:creationId xmlns:a16="http://schemas.microsoft.com/office/drawing/2014/main" id="{0E5E9E7F-6ECF-4A93-BB80-CE725592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Launch the wizard or dashboard</a:t>
            </a:r>
          </a:p>
        </p:txBody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F68089DE-7FDA-4FBE-A801-39C5C67A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092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0710ACF5-4C4E-452C-AE70-CAC23446F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664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Open Start_Here to choose a launcher</a:t>
            </a:r>
          </a:p>
        </p:txBody>
      </p:sp>
      <p:sp>
        <p:nvSpPr>
          <p:cNvPr id="17" name="Shape 13">
            <a:extLst xmlns:a="http://schemas.openxmlformats.org/drawingml/2006/main">
              <a:ext uri="{FF2B5EF4-FFF2-40B4-BE49-F238E27FC236}">
                <a16:creationId xmlns:a16="http://schemas.microsoft.com/office/drawing/2014/main" id="{BECBF8F1-B08A-46E6-8721-91ED6F179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1691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3A6B"/>
          </a:solidFill>
          <a:ln xmlns:a="http://schemas.openxmlformats.org/drawingml/2006/main" w="9525">
            <a:solidFill>
              <a:srgbClr val="2D48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4">
            <a:extLst xmlns:a="http://schemas.openxmlformats.org/drawingml/2006/main">
              <a:ext uri="{FF2B5EF4-FFF2-40B4-BE49-F238E27FC236}">
                <a16:creationId xmlns:a16="http://schemas.microsoft.com/office/drawing/2014/main" id="{C39FA76B-E978-4529-B4D7-8ACCF58B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0280" y="2377440"/>
            <a:ext cx="25908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AA7D9"/>
          </a:solidFill>
          <a:ln xmlns:a="http://schemas.openxmlformats.org/drawingml/2006/main" w="12700">
            <a:solidFill>
              <a:srgbClr val="6AA7D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f95c6b0c4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24600" y="2651760"/>
            <a:ext cx="329184" cy="329184"/>
          </a:xfrm>
          <a:prstGeom xmlns:a="http://schemas.openxmlformats.org/drawingml/2006/main" prst="rect">
            <a:avLst/>
          </a:prstGeom>
        </p:spPr>
      </p:pic>
      <p:sp>
        <p:nvSpPr>
          <p:cNvPr id="20" name="Text 15">
            <a:extLst xmlns:a="http://schemas.openxmlformats.org/drawingml/2006/main">
              <a:ext uri="{FF2B5EF4-FFF2-40B4-BE49-F238E27FC236}">
                <a16:creationId xmlns:a16="http://schemas.microsoft.com/office/drawing/2014/main" id="{21232863-86B6-41CC-8E06-0130139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3240"/>
            <a:ext cx="21336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Consent before AI</a:t>
            </a:r>
          </a:p>
        </p:txBody>
      </p:sp>
      <p:sp>
        <p:nvSpPr>
          <p:cNvPr id="21" name="Shape 16">
            <a:extLst xmlns:a="http://schemas.openxmlformats.org/drawingml/2006/main">
              <a:ext uri="{FF2B5EF4-FFF2-40B4-BE49-F238E27FC236}">
                <a16:creationId xmlns:a16="http://schemas.microsoft.com/office/drawing/2014/main" id="{FFAADF53-C0BC-43D4-ADF7-D517210D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74720"/>
            <a:ext cx="2042160" cy="4114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B36"/>
          </a:solidFill>
          <a:ln xmlns:a="http://schemas.openxmlformats.org/drawingml/2006/main" w="12700">
            <a:solidFill>
              <a:srgbClr val="0E1B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7">
            <a:extLst xmlns:a="http://schemas.openxmlformats.org/drawingml/2006/main">
              <a:ext uri="{FF2B5EF4-FFF2-40B4-BE49-F238E27FC236}">
                <a16:creationId xmlns:a16="http://schemas.microsoft.com/office/drawing/2014/main" id="{0C666006-F7EA-49A1-B710-3BC66E4FA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0320" y="3474720"/>
            <a:ext cx="19507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CADCFC"/>
                </a:solidFill>
                <a:latin typeface="Consolas"/>
                <a:ea typeface="Consolas"/>
                <a:cs typeface="Consolas"/>
              </a:rPr>
              <a:t>Then enter an approved key or gateway</a:t>
            </a:r>
          </a:p>
        </p:txBody>
      </p:sp>
      <p:sp>
        <p:nvSpPr>
          <p:cNvPr id="23" name="Text 18">
            <a:extLst xmlns:a="http://schemas.openxmlformats.org/drawingml/2006/main">
              <a:ext uri="{FF2B5EF4-FFF2-40B4-BE49-F238E27FC236}">
                <a16:creationId xmlns:a16="http://schemas.microsoft.com/office/drawing/2014/main" id="{F2DBC4BD-3DEB-4802-BFE5-4D10C7F4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4640580"/>
            <a:ext cx="81381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Questions?  Nobuo Yoshida  ·  nyoshida@worldbank.org</a:t>
            </a:r>
          </a:p>
        </p:txBody>
      </p:sp>
    </p:spTree>
    <p:extLst>
      <p:ext uri="{BB962C8B-B14F-4D97-AF65-F5344CB8AC3E}">
        <p14:creationId xmlns:p14="http://schemas.microsoft.com/office/powerpoint/2010/main" val="119558988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2026-09-01T22:04:09.2800000Z</dcterms:created>
  <dcterms:modified xsi:type="dcterms:W3CDTF">2026-09-01T22:04:09.2800000Z</dcterms:modified>
</coreProperties>
</file>